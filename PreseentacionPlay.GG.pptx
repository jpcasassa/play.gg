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AD1C"/>
    <a:srgbClr val="FCF2FB"/>
    <a:srgbClr val="F4BEE1"/>
    <a:srgbClr val="F9B9FB"/>
    <a:srgbClr val="FFFFD5"/>
    <a:srgbClr val="F8E4F6"/>
    <a:srgbClr val="4EA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10" autoAdjust="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D4FFD8CC-A8D0-4EBF-88CA-5648434F1C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5EE41DF-C4D6-4670-B784-8E436E6838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01A6028-B03E-466A-80CD-76FD4325E1C2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95250" cy="68580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5F40809-5484-42B0-A831-F5A78B11740D}"/>
              </a:ext>
            </a:extLst>
          </p:cNvPr>
          <p:cNvSpPr>
            <a:spLocks noGrp="1"/>
          </p:cNvSpPr>
          <p:nvPr/>
        </p:nvSpPr>
        <p:spPr>
          <a:xfrm>
            <a:off x="742950" y="762000"/>
            <a:ext cx="495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PLAY.GG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9625E8D-1771-4079-ADEA-76BC42F98F82}"/>
              </a:ext>
            </a:extLst>
          </p:cNvPr>
          <p:cNvSpPr>
            <a:spLocks noGrp="1"/>
          </p:cNvSpPr>
          <p:nvPr/>
        </p:nvSpPr>
        <p:spPr>
          <a:xfrm>
            <a:off x="800100" y="1625558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BAE6FD"/>
                </a:solidFill>
                <a:latin typeface="Aptos"/>
                <a:ea typeface="Aptos"/>
                <a:cs typeface="Aptos"/>
              </a:defRPr>
            </a:pPr>
            <a:r>
              <a:rPr sz="1800" b="0" dirty="0" err="1">
                <a:solidFill>
                  <a:srgbClr val="BAE6FD"/>
                </a:solidFill>
                <a:latin typeface="Aptos"/>
                <a:ea typeface="Aptos"/>
                <a:cs typeface="Aptos"/>
              </a:rPr>
              <a:t>Arquitectura</a:t>
            </a:r>
            <a:r>
              <a:rPr sz="1800" b="0" dirty="0">
                <a:solidFill>
                  <a:srgbClr val="BAE6FD"/>
                </a:solidFill>
                <a:latin typeface="Aptos"/>
                <a:ea typeface="Aptos"/>
                <a:cs typeface="Aptos"/>
              </a:rPr>
              <a:t> de </a:t>
            </a:r>
            <a:r>
              <a:rPr sz="1800" b="0" dirty="0" err="1">
                <a:solidFill>
                  <a:srgbClr val="BAE6FD"/>
                </a:solidFill>
                <a:latin typeface="Aptos"/>
                <a:ea typeface="Aptos"/>
                <a:cs typeface="Aptos"/>
              </a:rPr>
              <a:t>microservicios</a:t>
            </a:r>
            <a:endParaRPr sz="1800" b="0" dirty="0">
              <a:solidFill>
                <a:srgbClr val="BAE6F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090EC27-57F1-4003-9094-1F7CE5B9E888}"/>
              </a:ext>
            </a:extLst>
          </p:cNvPr>
          <p:cNvSpPr>
            <a:spLocks noGrp="1"/>
          </p:cNvSpPr>
          <p:nvPr/>
        </p:nvSpPr>
        <p:spPr>
          <a:xfrm>
            <a:off x="742950" y="2774867"/>
            <a:ext cx="6858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Una </a:t>
            </a:r>
            <a:r>
              <a:rPr sz="1800" b="0" dirty="0" err="1">
                <a:solidFill>
                  <a:srgbClr val="E2E8F0"/>
                </a:solidFill>
                <a:latin typeface="Aptos"/>
                <a:ea typeface="Aptos"/>
                <a:cs typeface="Aptos"/>
              </a:rPr>
              <a:t>plataforma</a:t>
            </a:r>
            <a:r>
              <a:rPr sz="1800" b="0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 gamer/social </a:t>
            </a:r>
            <a:r>
              <a:rPr sz="1800" b="0" dirty="0" err="1">
                <a:solidFill>
                  <a:srgbClr val="E2E8F0"/>
                </a:solidFill>
                <a:latin typeface="Aptos"/>
                <a:ea typeface="Aptos"/>
                <a:cs typeface="Aptos"/>
              </a:rPr>
              <a:t>separada</a:t>
            </a:r>
            <a:r>
              <a:rPr sz="1800" b="0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0" dirty="0" err="1">
                <a:solidFill>
                  <a:srgbClr val="E2E8F0"/>
                </a:solidFill>
                <a:latin typeface="Aptos"/>
                <a:ea typeface="Aptos"/>
                <a:cs typeface="Aptos"/>
              </a:rPr>
              <a:t>por</a:t>
            </a:r>
            <a:r>
              <a:rPr sz="1800" b="0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0" dirty="0" err="1">
                <a:solidFill>
                  <a:srgbClr val="E2E8F0"/>
                </a:solidFill>
                <a:latin typeface="Aptos"/>
                <a:ea typeface="Aptos"/>
                <a:cs typeface="Aptos"/>
              </a:rPr>
              <a:t>dominios</a:t>
            </a:r>
            <a:r>
              <a:rPr sz="1800" b="0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: </a:t>
            </a:r>
            <a:r>
              <a:rPr sz="1800" b="0" dirty="0" err="1">
                <a:solidFill>
                  <a:srgbClr val="E2E8F0"/>
                </a:solidFill>
                <a:latin typeface="Aptos"/>
                <a:ea typeface="Aptos"/>
                <a:cs typeface="Aptos"/>
              </a:rPr>
              <a:t>usuarios</a:t>
            </a:r>
            <a:r>
              <a:rPr sz="1800" b="0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, auth, </a:t>
            </a:r>
            <a:r>
              <a:rPr sz="1800" b="0" dirty="0" err="1">
                <a:solidFill>
                  <a:srgbClr val="E2E8F0"/>
                </a:solidFill>
                <a:latin typeface="Aptos"/>
                <a:ea typeface="Aptos"/>
                <a:cs typeface="Aptos"/>
              </a:rPr>
              <a:t>perfiles</a:t>
            </a:r>
            <a:r>
              <a:rPr sz="1800" b="0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, </a:t>
            </a:r>
            <a:r>
              <a:rPr sz="1800" b="0" dirty="0" err="1">
                <a:solidFill>
                  <a:srgbClr val="E2E8F0"/>
                </a:solidFill>
                <a:latin typeface="Aptos"/>
                <a:ea typeface="Aptos"/>
                <a:cs typeface="Aptos"/>
              </a:rPr>
              <a:t>foro</a:t>
            </a:r>
            <a:r>
              <a:rPr sz="1800" b="0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, comunidades, chat, </a:t>
            </a:r>
            <a:r>
              <a:rPr sz="1800" b="0" dirty="0" err="1">
                <a:solidFill>
                  <a:srgbClr val="E2E8F0"/>
                </a:solidFill>
                <a:latin typeface="Aptos"/>
                <a:ea typeface="Aptos"/>
                <a:cs typeface="Aptos"/>
              </a:rPr>
              <a:t>notificaciones</a:t>
            </a:r>
            <a:r>
              <a:rPr sz="1800" b="0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, </a:t>
            </a:r>
            <a:r>
              <a:rPr sz="1800" b="0" dirty="0" err="1">
                <a:solidFill>
                  <a:srgbClr val="E2E8F0"/>
                </a:solidFill>
                <a:latin typeface="Aptos"/>
                <a:ea typeface="Aptos"/>
                <a:cs typeface="Aptos"/>
              </a:rPr>
              <a:t>juegos</a:t>
            </a:r>
            <a:r>
              <a:rPr sz="1800" b="0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 y </a:t>
            </a:r>
            <a:r>
              <a:rPr sz="1800" b="0" dirty="0" err="1">
                <a:solidFill>
                  <a:srgbClr val="E2E8F0"/>
                </a:solidFill>
                <a:latin typeface="Aptos"/>
                <a:ea typeface="Aptos"/>
                <a:cs typeface="Aptos"/>
              </a:rPr>
              <a:t>coleccionables</a:t>
            </a:r>
            <a:r>
              <a:rPr sz="1800" b="0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C4DFC98-18AF-421D-A872-023D753B2CE3}"/>
              </a:ext>
            </a:extLst>
          </p:cNvPr>
          <p:cNvSpPr>
            <a:spLocks noGrp="1"/>
          </p:cNvSpPr>
          <p:nvPr/>
        </p:nvSpPr>
        <p:spPr>
          <a:xfrm>
            <a:off x="1220100" y="4103604"/>
            <a:ext cx="1392382" cy="440690"/>
          </a:xfrm>
          <a:prstGeom prst="rect">
            <a:avLst/>
          </a:prstGeom>
          <a:solidFill>
            <a:srgbClr val="FFFFFF"/>
          </a:solidFill>
          <a:ln w="14288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5492A8C-7A45-4D38-84B1-91D4A4922B81}"/>
              </a:ext>
            </a:extLst>
          </p:cNvPr>
          <p:cNvSpPr>
            <a:spLocks noGrp="1"/>
          </p:cNvSpPr>
          <p:nvPr/>
        </p:nvSpPr>
        <p:spPr>
          <a:xfrm>
            <a:off x="1334400" y="4189329"/>
            <a:ext cx="1169601" cy="23194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Spring Boot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1C27D2E-C688-4B33-A61C-1A6E5CE65B65}"/>
              </a:ext>
            </a:extLst>
          </p:cNvPr>
          <p:cNvSpPr>
            <a:spLocks noGrp="1"/>
          </p:cNvSpPr>
          <p:nvPr/>
        </p:nvSpPr>
        <p:spPr>
          <a:xfrm>
            <a:off x="2839350" y="4103604"/>
            <a:ext cx="1206731" cy="440690"/>
          </a:xfrm>
          <a:prstGeom prst="rect">
            <a:avLst/>
          </a:prstGeom>
          <a:solidFill>
            <a:srgbClr val="FFFFFF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33B9BFF-868F-46AC-BA6E-EF4DA12E4A59}"/>
              </a:ext>
            </a:extLst>
          </p:cNvPr>
          <p:cNvSpPr>
            <a:spLocks noGrp="1"/>
          </p:cNvSpPr>
          <p:nvPr/>
        </p:nvSpPr>
        <p:spPr>
          <a:xfrm>
            <a:off x="2953650" y="4189329"/>
            <a:ext cx="983950" cy="23194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Gateway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609162D-A321-4BC0-8B68-6FC1299D5A59}"/>
              </a:ext>
            </a:extLst>
          </p:cNvPr>
          <p:cNvSpPr>
            <a:spLocks noGrp="1"/>
          </p:cNvSpPr>
          <p:nvPr/>
        </p:nvSpPr>
        <p:spPr>
          <a:xfrm>
            <a:off x="4268100" y="4103604"/>
            <a:ext cx="1113905" cy="440690"/>
          </a:xfrm>
          <a:prstGeom prst="rect">
            <a:avLst/>
          </a:prstGeom>
          <a:solidFill>
            <a:srgbClr val="FFFFFF"/>
          </a:solidFill>
          <a:ln w="14288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6B54AE9-2754-498B-AB46-8687FE6F431D}"/>
              </a:ext>
            </a:extLst>
          </p:cNvPr>
          <p:cNvSpPr>
            <a:spLocks noGrp="1"/>
          </p:cNvSpPr>
          <p:nvPr/>
        </p:nvSpPr>
        <p:spPr>
          <a:xfrm>
            <a:off x="4382400" y="4189329"/>
            <a:ext cx="891124" cy="23194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Eureka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D732979-38B3-45C1-8EF8-9C1F69DBF460}"/>
              </a:ext>
            </a:extLst>
          </p:cNvPr>
          <p:cNvSpPr>
            <a:spLocks noGrp="1"/>
          </p:cNvSpPr>
          <p:nvPr/>
        </p:nvSpPr>
        <p:spPr>
          <a:xfrm>
            <a:off x="5601600" y="4103604"/>
            <a:ext cx="1021080" cy="440690"/>
          </a:xfrm>
          <a:prstGeom prst="rect">
            <a:avLst/>
          </a:prstGeom>
          <a:solidFill>
            <a:srgbClr val="FFFFFF"/>
          </a:solidFill>
          <a:ln w="14288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7CE9F3E-706F-4131-8943-275C9781BFDA}"/>
              </a:ext>
            </a:extLst>
          </p:cNvPr>
          <p:cNvSpPr>
            <a:spLocks noGrp="1"/>
          </p:cNvSpPr>
          <p:nvPr/>
        </p:nvSpPr>
        <p:spPr>
          <a:xfrm>
            <a:off x="5715900" y="4189329"/>
            <a:ext cx="798299" cy="23194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31CA88D-6131-4503-8B26-970BF93EA5D6}"/>
              </a:ext>
            </a:extLst>
          </p:cNvPr>
          <p:cNvSpPr>
            <a:spLocks noGrp="1"/>
          </p:cNvSpPr>
          <p:nvPr/>
        </p:nvSpPr>
        <p:spPr>
          <a:xfrm>
            <a:off x="9061450" y="6082030"/>
            <a:ext cx="4000500" cy="6235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lang="es-MX" sz="1125" b="1" i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Integrantes:  	Juan Pablo Casassa Urra</a:t>
            </a:r>
          </a:p>
          <a:p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lang="es-MX" sz="1125" b="1" i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	Claudio Alberto Jaime Calderon</a:t>
            </a:r>
          </a:p>
          <a:p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lang="es-MX" sz="1125" b="1" i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	Martin Ignacio González Varela</a:t>
            </a:r>
            <a:endParaRPr sz="1125" b="1" i="1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987E682-B21D-4D61-ACB5-796B5F0EEDE8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PLAY.GG arquitectura | 1/5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5E5F1676-D139-3C07-4243-B13A1CE93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514" y="109220"/>
            <a:ext cx="3502036" cy="58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1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13233EC5-8C19-4A84-B559-4B9861F75F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55CFB18-7E79-472E-99D7-738D778A0119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590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IDEA CENTRAL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73B72D3-794D-4DDC-8EE7-69FBAF0ADDF0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El sistema se divide por responsabilidades.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76B0485-E29D-4E7B-B963-052EF72B91DD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143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50B53F1-A001-4360-B7DB-53609A6E5006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66675" cy="23812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F4121B5-2510-4508-8D65-87173A1A1D3F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2686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Separacion por dominio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7C0AFF5-8813-4899-80E9-7974EC18EBD4}"/>
              </a:ext>
            </a:extLst>
          </p:cNvPr>
          <p:cNvSpPr>
            <a:spLocks noGrp="1"/>
          </p:cNvSpPr>
          <p:nvPr/>
        </p:nvSpPr>
        <p:spPr>
          <a:xfrm>
            <a:off x="914400" y="2171700"/>
            <a:ext cx="2686050" cy="163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Cada servicio atiende una parte del negocio y mantiene su propio codigo, modelos y reglas.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06AADCF-29B6-4429-81B9-540759C6CBF7}"/>
              </a:ext>
            </a:extLst>
          </p:cNvPr>
          <p:cNvSpPr>
            <a:spLocks noGrp="1"/>
          </p:cNvSpPr>
          <p:nvPr/>
        </p:nvSpPr>
        <p:spPr>
          <a:xfrm>
            <a:off x="4533900" y="1619250"/>
            <a:ext cx="3143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7E2B890-F2A4-4072-8CD7-18AC52F055FD}"/>
              </a:ext>
            </a:extLst>
          </p:cNvPr>
          <p:cNvSpPr>
            <a:spLocks noGrp="1"/>
          </p:cNvSpPr>
          <p:nvPr/>
        </p:nvSpPr>
        <p:spPr>
          <a:xfrm>
            <a:off x="4533900" y="1619250"/>
            <a:ext cx="66675" cy="23812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011C29F-5AC4-44A8-8D6C-B421CEBB3A6B}"/>
              </a:ext>
            </a:extLst>
          </p:cNvPr>
          <p:cNvSpPr>
            <a:spLocks noGrp="1"/>
          </p:cNvSpPr>
          <p:nvPr/>
        </p:nvSpPr>
        <p:spPr>
          <a:xfrm>
            <a:off x="4762500" y="1828800"/>
            <a:ext cx="2686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Entrada unica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5F2D072-43B3-4E55-9DB0-4CAF3E761B86}"/>
              </a:ext>
            </a:extLst>
          </p:cNvPr>
          <p:cNvSpPr>
            <a:spLocks noGrp="1"/>
          </p:cNvSpPr>
          <p:nvPr/>
        </p:nvSpPr>
        <p:spPr>
          <a:xfrm>
            <a:off x="4762500" y="2171700"/>
            <a:ext cx="2686050" cy="163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El cliente no llama directo a todos los puertos: entra por Gateway en el puerto 8080.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714ADE1-08C4-4DF9-8E30-F86AE0E17EAE}"/>
              </a:ext>
            </a:extLst>
          </p:cNvPr>
          <p:cNvSpPr>
            <a:spLocks noGrp="1"/>
          </p:cNvSpPr>
          <p:nvPr/>
        </p:nvSpPr>
        <p:spPr>
          <a:xfrm>
            <a:off x="8382000" y="1619250"/>
            <a:ext cx="3143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4146564-7651-4A5D-A9E5-7EA3DE9C718A}"/>
              </a:ext>
            </a:extLst>
          </p:cNvPr>
          <p:cNvSpPr>
            <a:spLocks noGrp="1"/>
          </p:cNvSpPr>
          <p:nvPr/>
        </p:nvSpPr>
        <p:spPr>
          <a:xfrm>
            <a:off x="8382000" y="1619250"/>
            <a:ext cx="66675" cy="23812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9FD85C5-AE17-4373-874B-4B8953E002B4}"/>
              </a:ext>
            </a:extLst>
          </p:cNvPr>
          <p:cNvSpPr>
            <a:spLocks noGrp="1"/>
          </p:cNvSpPr>
          <p:nvPr/>
        </p:nvSpPr>
        <p:spPr>
          <a:xfrm>
            <a:off x="8610600" y="1828800"/>
            <a:ext cx="2686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Datos independientes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16F6CA9-C3D6-4B9A-992C-FE9305743C6A}"/>
              </a:ext>
            </a:extLst>
          </p:cNvPr>
          <p:cNvSpPr>
            <a:spLocks noGrp="1"/>
          </p:cNvSpPr>
          <p:nvPr/>
        </p:nvSpPr>
        <p:spPr>
          <a:xfrm>
            <a:off x="8610600" y="2171700"/>
            <a:ext cx="2686050" cy="163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Los microservicios de dominio usan bases MySQL separadas para reducir acoplamiento.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10E1B5E-D1BC-440D-94EF-6D88A91A68AA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839450" cy="742950"/>
          </a:xfrm>
          <a:prstGeom prst="rect">
            <a:avLst/>
          </a:prstGeom>
          <a:solidFill>
            <a:srgbClr val="E0F2FE"/>
          </a:solidFill>
          <a:ln w="9525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4268EFE-665B-4A31-89F0-63EA99395B27}"/>
              </a:ext>
            </a:extLst>
          </p:cNvPr>
          <p:cNvSpPr>
            <a:spLocks noGrp="1"/>
          </p:cNvSpPr>
          <p:nvPr/>
        </p:nvSpPr>
        <p:spPr>
          <a:xfrm>
            <a:off x="876300" y="4648200"/>
            <a:ext cx="104584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5F3EAA7-E5BC-4C89-A60D-03ABC442F1A2}"/>
              </a:ext>
            </a:extLst>
          </p:cNvPr>
          <p:cNvSpPr>
            <a:spLocks noGrp="1"/>
          </p:cNvSpPr>
          <p:nvPr/>
        </p:nvSpPr>
        <p:spPr>
          <a:xfrm>
            <a:off x="876300" y="4648200"/>
            <a:ext cx="66675" cy="9715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2D5CB3F-A3C1-4264-B48E-19AF7369A66B}"/>
              </a:ext>
            </a:extLst>
          </p:cNvPr>
          <p:cNvSpPr>
            <a:spLocks noGrp="1"/>
          </p:cNvSpPr>
          <p:nvPr/>
        </p:nvSpPr>
        <p:spPr>
          <a:xfrm>
            <a:off x="1104900" y="4857750"/>
            <a:ext cx="1000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6F8081-CB6C-4049-80BB-658736C1FA70}"/>
              </a:ext>
            </a:extLst>
          </p:cNvPr>
          <p:cNvSpPr>
            <a:spLocks noGrp="1"/>
          </p:cNvSpPr>
          <p:nvPr/>
        </p:nvSpPr>
        <p:spPr>
          <a:xfrm>
            <a:off x="1104900" y="5200650"/>
            <a:ext cx="1000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Una arquitectura mas clara para ejecutar, probar y explicar el proyecto PLAY.GG.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5029BF5-5FDC-4A1E-90C0-B3BA485FFFB8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PLAY.GG arquitectura | 2/5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3792E6A9-788D-14B4-C52A-29CBFC9A9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9964" y="-23495"/>
            <a:ext cx="3502036" cy="58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9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7F1764C2-8279-4B2E-80B4-E155B5FE1467}"/>
              </a:ext>
            </a:extLst>
          </p:cNvPr>
          <p:cNvSpPr>
            <a:spLocks noGrp="1"/>
          </p:cNvSpPr>
          <p:nvPr/>
        </p:nvSpPr>
        <p:spPr>
          <a:xfrm>
            <a:off x="193040" y="152400"/>
            <a:ext cx="11836400" cy="6553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3626C03-D7C2-483C-9AF5-57711BAD7C21}"/>
              </a:ext>
            </a:extLst>
          </p:cNvPr>
          <p:cNvSpPr>
            <a:spLocks noGrp="1"/>
          </p:cNvSpPr>
          <p:nvPr/>
        </p:nvSpPr>
        <p:spPr>
          <a:xfrm>
            <a:off x="5868034" y="1724342"/>
            <a:ext cx="19050" cy="400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48E277C-C259-43D3-9958-665766D4914A}"/>
              </a:ext>
            </a:extLst>
          </p:cNvPr>
          <p:cNvSpPr>
            <a:spLocks noGrp="1"/>
          </p:cNvSpPr>
          <p:nvPr/>
        </p:nvSpPr>
        <p:spPr>
          <a:xfrm>
            <a:off x="5868034" y="2531110"/>
            <a:ext cx="19050" cy="4000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5F04CE3-CAD8-4154-91C5-3548F61643D7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590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MAPA GENERAL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BB3B578-00DA-4D2C-A1DC-46DD184B3B34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Flujo principal: cliente, Gateway, servicios y datos.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E52CFAD-4CB2-4AE9-8939-711ECD59EF04}"/>
              </a:ext>
            </a:extLst>
          </p:cNvPr>
          <p:cNvSpPr>
            <a:spLocks noGrp="1"/>
          </p:cNvSpPr>
          <p:nvPr/>
        </p:nvSpPr>
        <p:spPr>
          <a:xfrm>
            <a:off x="4725034" y="1340485"/>
            <a:ext cx="22860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A679B86-D5DC-47ED-9C3B-54DFAEA628D9}"/>
              </a:ext>
            </a:extLst>
          </p:cNvPr>
          <p:cNvSpPr>
            <a:spLocks noGrp="1"/>
          </p:cNvSpPr>
          <p:nvPr/>
        </p:nvSpPr>
        <p:spPr>
          <a:xfrm>
            <a:off x="4820284" y="147383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Cliente API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57A35A7-0F8E-410D-88E1-ABA56A52FBBD}"/>
              </a:ext>
            </a:extLst>
          </p:cNvPr>
          <p:cNvSpPr>
            <a:spLocks noGrp="1"/>
          </p:cNvSpPr>
          <p:nvPr/>
        </p:nvSpPr>
        <p:spPr>
          <a:xfrm>
            <a:off x="4534534" y="2197735"/>
            <a:ext cx="26670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B3E548-5B1F-4A04-A668-5CFBEE61FBE6}"/>
              </a:ext>
            </a:extLst>
          </p:cNvPr>
          <p:cNvSpPr>
            <a:spLocks noGrp="1"/>
          </p:cNvSpPr>
          <p:nvPr/>
        </p:nvSpPr>
        <p:spPr>
          <a:xfrm>
            <a:off x="4629784" y="2331085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gateway-service :8080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776D138-AA8A-4C9D-A4FB-02DEEAB18489}"/>
              </a:ext>
            </a:extLst>
          </p:cNvPr>
          <p:cNvSpPr>
            <a:spLocks noGrp="1"/>
          </p:cNvSpPr>
          <p:nvPr/>
        </p:nvSpPr>
        <p:spPr>
          <a:xfrm>
            <a:off x="4534534" y="3054985"/>
            <a:ext cx="26670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5E84738-EF24-45B0-9C09-998C0DDF3E08}"/>
              </a:ext>
            </a:extLst>
          </p:cNvPr>
          <p:cNvSpPr>
            <a:spLocks noGrp="1"/>
          </p:cNvSpPr>
          <p:nvPr/>
        </p:nvSpPr>
        <p:spPr>
          <a:xfrm>
            <a:off x="4629784" y="3188335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discovery-service :8761</a:t>
            </a:r>
          </a:p>
        </p:txBody>
      </p:sp>
      <p:sp>
        <p:nvSpPr>
          <p:cNvPr id="11" name="Triángulo isósceles 10">
            <a:extLst>
              <a:ext uri="{FF2B5EF4-FFF2-40B4-BE49-F238E27FC236}">
                <a16:creationId xmlns:a16="http://schemas.microsoft.com/office/drawing/2014/main" id="{24A77FC1-D035-49E7-A82A-F59C062AC795}"/>
              </a:ext>
            </a:extLst>
          </p:cNvPr>
          <p:cNvSpPr>
            <a:spLocks noGrp="1"/>
          </p:cNvSpPr>
          <p:nvPr/>
        </p:nvSpPr>
        <p:spPr>
          <a:xfrm rot="10800000">
            <a:off x="5828029" y="2083435"/>
            <a:ext cx="95250" cy="95250"/>
          </a:xfrm>
          <a:prstGeom prst="triangl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riángulo isósceles 12">
            <a:extLst>
              <a:ext uri="{FF2B5EF4-FFF2-40B4-BE49-F238E27FC236}">
                <a16:creationId xmlns:a16="http://schemas.microsoft.com/office/drawing/2014/main" id="{CA72F98A-B466-489A-8F0C-0707E69973C2}"/>
              </a:ext>
            </a:extLst>
          </p:cNvPr>
          <p:cNvSpPr>
            <a:spLocks noGrp="1"/>
          </p:cNvSpPr>
          <p:nvPr/>
        </p:nvSpPr>
        <p:spPr>
          <a:xfrm rot="10800000">
            <a:off x="5829934" y="2912110"/>
            <a:ext cx="95250" cy="95250"/>
          </a:xfrm>
          <a:prstGeom prst="triangl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60E1DEE-4371-43A8-A5EB-E94BF619AB52}"/>
              </a:ext>
            </a:extLst>
          </p:cNvPr>
          <p:cNvSpPr>
            <a:spLocks noGrp="1"/>
          </p:cNvSpPr>
          <p:nvPr/>
        </p:nvSpPr>
        <p:spPr>
          <a:xfrm>
            <a:off x="857250" y="4286250"/>
            <a:ext cx="103251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E2FFA1B-4732-4FFE-B46D-8D448784EE82}"/>
              </a:ext>
            </a:extLst>
          </p:cNvPr>
          <p:cNvSpPr>
            <a:spLocks noGrp="1"/>
          </p:cNvSpPr>
          <p:nvPr/>
        </p:nvSpPr>
        <p:spPr>
          <a:xfrm>
            <a:off x="952500" y="4419600"/>
            <a:ext cx="8604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user :8081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33E5F0A-3B26-4B0E-AED4-37B453D9F535}"/>
              </a:ext>
            </a:extLst>
          </p:cNvPr>
          <p:cNvSpPr>
            <a:spLocks noGrp="1"/>
          </p:cNvSpPr>
          <p:nvPr/>
        </p:nvSpPr>
        <p:spPr>
          <a:xfrm>
            <a:off x="1985010" y="4286250"/>
            <a:ext cx="103251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36BF712-D11E-4275-8863-A0CB826708CF}"/>
              </a:ext>
            </a:extLst>
          </p:cNvPr>
          <p:cNvSpPr>
            <a:spLocks noGrp="1"/>
          </p:cNvSpPr>
          <p:nvPr/>
        </p:nvSpPr>
        <p:spPr>
          <a:xfrm>
            <a:off x="2080260" y="4419600"/>
            <a:ext cx="8604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auth :8082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CDA0571-1191-4EA4-BA19-89C51A1EC44A}"/>
              </a:ext>
            </a:extLst>
          </p:cNvPr>
          <p:cNvSpPr>
            <a:spLocks noGrp="1"/>
          </p:cNvSpPr>
          <p:nvPr/>
        </p:nvSpPr>
        <p:spPr>
          <a:xfrm>
            <a:off x="3112770" y="4286250"/>
            <a:ext cx="103251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4D17349-5484-4152-90D3-6E882C1BD238}"/>
              </a:ext>
            </a:extLst>
          </p:cNvPr>
          <p:cNvSpPr>
            <a:spLocks noGrp="1"/>
          </p:cNvSpPr>
          <p:nvPr/>
        </p:nvSpPr>
        <p:spPr>
          <a:xfrm>
            <a:off x="3208020" y="4419600"/>
            <a:ext cx="8604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profile :8083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754D651-9246-4171-8B7F-F983D68571B4}"/>
              </a:ext>
            </a:extLst>
          </p:cNvPr>
          <p:cNvSpPr>
            <a:spLocks noGrp="1"/>
          </p:cNvSpPr>
          <p:nvPr/>
        </p:nvSpPr>
        <p:spPr>
          <a:xfrm>
            <a:off x="4246245" y="4286250"/>
            <a:ext cx="103251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2A56408-4955-44C8-9F4A-0D1C8DADAB65}"/>
              </a:ext>
            </a:extLst>
          </p:cNvPr>
          <p:cNvSpPr>
            <a:spLocks noGrp="1"/>
          </p:cNvSpPr>
          <p:nvPr/>
        </p:nvSpPr>
        <p:spPr>
          <a:xfrm>
            <a:off x="4341495" y="4419600"/>
            <a:ext cx="8604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forum :8084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9A0D5FE-67AF-493B-96B8-ED1F2433574D}"/>
              </a:ext>
            </a:extLst>
          </p:cNvPr>
          <p:cNvSpPr>
            <a:spLocks noGrp="1"/>
          </p:cNvSpPr>
          <p:nvPr/>
        </p:nvSpPr>
        <p:spPr>
          <a:xfrm>
            <a:off x="5358765" y="4286250"/>
            <a:ext cx="103251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486514A-B6DB-4A84-B4F4-00F702187C48}"/>
              </a:ext>
            </a:extLst>
          </p:cNvPr>
          <p:cNvSpPr>
            <a:spLocks noGrp="1"/>
          </p:cNvSpPr>
          <p:nvPr/>
        </p:nvSpPr>
        <p:spPr>
          <a:xfrm>
            <a:off x="5454015" y="4419600"/>
            <a:ext cx="8604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community :8085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1541D93-69DA-4E18-908D-1B52DA402BB5}"/>
              </a:ext>
            </a:extLst>
          </p:cNvPr>
          <p:cNvSpPr>
            <a:spLocks noGrp="1"/>
          </p:cNvSpPr>
          <p:nvPr/>
        </p:nvSpPr>
        <p:spPr>
          <a:xfrm>
            <a:off x="6471285" y="4286250"/>
            <a:ext cx="103251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9AB10DE-2466-466D-8EF9-0DFDB2E12586}"/>
              </a:ext>
            </a:extLst>
          </p:cNvPr>
          <p:cNvSpPr>
            <a:spLocks noGrp="1"/>
          </p:cNvSpPr>
          <p:nvPr/>
        </p:nvSpPr>
        <p:spPr>
          <a:xfrm>
            <a:off x="6566535" y="4419600"/>
            <a:ext cx="8604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chat :8086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8BAE421-6367-4706-9BFF-6B4F3045F631}"/>
              </a:ext>
            </a:extLst>
          </p:cNvPr>
          <p:cNvSpPr>
            <a:spLocks noGrp="1"/>
          </p:cNvSpPr>
          <p:nvPr/>
        </p:nvSpPr>
        <p:spPr>
          <a:xfrm>
            <a:off x="7599045" y="4286250"/>
            <a:ext cx="103251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456FED7-6BD4-4898-9A51-D3C1EC41283A}"/>
              </a:ext>
            </a:extLst>
          </p:cNvPr>
          <p:cNvSpPr>
            <a:spLocks noGrp="1"/>
          </p:cNvSpPr>
          <p:nvPr/>
        </p:nvSpPr>
        <p:spPr>
          <a:xfrm>
            <a:off x="7694295" y="4419600"/>
            <a:ext cx="8604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notification :8087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B3B498D-9A90-484E-BEB1-F1E856A61FD8}"/>
              </a:ext>
            </a:extLst>
          </p:cNvPr>
          <p:cNvSpPr>
            <a:spLocks noGrp="1"/>
          </p:cNvSpPr>
          <p:nvPr/>
        </p:nvSpPr>
        <p:spPr>
          <a:xfrm>
            <a:off x="8726805" y="4286250"/>
            <a:ext cx="103251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49374D8-287F-4C15-89AF-E49D75FD3613}"/>
              </a:ext>
            </a:extLst>
          </p:cNvPr>
          <p:cNvSpPr>
            <a:spLocks noGrp="1"/>
          </p:cNvSpPr>
          <p:nvPr/>
        </p:nvSpPr>
        <p:spPr>
          <a:xfrm>
            <a:off x="8822055" y="4419600"/>
            <a:ext cx="8604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game :8088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1B585FB-9E80-4A53-8583-A2C217DFE20C}"/>
              </a:ext>
            </a:extLst>
          </p:cNvPr>
          <p:cNvSpPr>
            <a:spLocks noGrp="1"/>
          </p:cNvSpPr>
          <p:nvPr/>
        </p:nvSpPr>
        <p:spPr>
          <a:xfrm>
            <a:off x="9885680" y="4286250"/>
            <a:ext cx="103251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65F789D-1D4A-4253-AA0B-0B29BFDB48B0}"/>
              </a:ext>
            </a:extLst>
          </p:cNvPr>
          <p:cNvSpPr>
            <a:spLocks noGrp="1"/>
          </p:cNvSpPr>
          <p:nvPr/>
        </p:nvSpPr>
        <p:spPr>
          <a:xfrm>
            <a:off x="9980930" y="4419600"/>
            <a:ext cx="8604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collectible :8089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F685242-1FAA-433F-B45A-A5999E4EAB73}"/>
              </a:ext>
            </a:extLst>
          </p:cNvPr>
          <p:cNvSpPr>
            <a:spLocks noGrp="1"/>
          </p:cNvSpPr>
          <p:nvPr/>
        </p:nvSpPr>
        <p:spPr>
          <a:xfrm>
            <a:off x="2152650" y="5886450"/>
            <a:ext cx="790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Gateway enruta por path y Eureka permite encontrar cada servicio por nombre.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2FDE73D-17CF-4BAE-8443-59D4D50F1A74}"/>
              </a:ext>
            </a:extLst>
          </p:cNvPr>
          <p:cNvSpPr>
            <a:spLocks noGrp="1"/>
          </p:cNvSpPr>
          <p:nvPr/>
        </p:nvSpPr>
        <p:spPr>
          <a:xfrm>
            <a:off x="569991" y="653415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dirty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PLAY.GG </a:t>
            </a:r>
            <a:r>
              <a:rPr sz="750" b="0" dirty="0" err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arquitectura</a:t>
            </a:r>
            <a:r>
              <a:rPr sz="750" b="0" dirty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| 3/5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7AA45020-698D-81D0-FF40-458993A17880}"/>
              </a:ext>
            </a:extLst>
          </p:cNvPr>
          <p:cNvCxnSpPr>
            <a:cxnSpLocks/>
          </p:cNvCxnSpPr>
          <p:nvPr/>
        </p:nvCxnSpPr>
        <p:spPr>
          <a:xfrm>
            <a:off x="1382712" y="3904296"/>
            <a:ext cx="90135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2B81DBEC-4EAA-D1CE-00F5-B02A3E853DD4}"/>
              </a:ext>
            </a:extLst>
          </p:cNvPr>
          <p:cNvCxnSpPr>
            <a:cxnSpLocks/>
          </p:cNvCxnSpPr>
          <p:nvPr/>
        </p:nvCxnSpPr>
        <p:spPr>
          <a:xfrm>
            <a:off x="1373505" y="3895724"/>
            <a:ext cx="0" cy="29289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64AF9567-B909-8255-EEB8-5DBF940BD2E3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2498804" y="3895724"/>
            <a:ext cx="556" cy="29289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A4CC41B1-7A6B-E9CC-F560-9F95F6EBF735}"/>
              </a:ext>
            </a:extLst>
          </p:cNvPr>
          <p:cNvCxnSpPr>
            <a:cxnSpLocks/>
          </p:cNvCxnSpPr>
          <p:nvPr/>
        </p:nvCxnSpPr>
        <p:spPr>
          <a:xfrm>
            <a:off x="3619500" y="3895724"/>
            <a:ext cx="0" cy="33528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B756AC2D-DE08-DF70-6F1E-278539039140}"/>
              </a:ext>
            </a:extLst>
          </p:cNvPr>
          <p:cNvCxnSpPr>
            <a:cxnSpLocks/>
          </p:cNvCxnSpPr>
          <p:nvPr/>
        </p:nvCxnSpPr>
        <p:spPr>
          <a:xfrm>
            <a:off x="4771707" y="3904296"/>
            <a:ext cx="0" cy="32670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45F0294C-A72F-7FD9-50F9-155C8446A799}"/>
              </a:ext>
            </a:extLst>
          </p:cNvPr>
          <p:cNvCxnSpPr>
            <a:cxnSpLocks/>
          </p:cNvCxnSpPr>
          <p:nvPr/>
        </p:nvCxnSpPr>
        <p:spPr>
          <a:xfrm>
            <a:off x="5876607" y="3895724"/>
            <a:ext cx="0" cy="33528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0F98B1E3-E6E9-9D17-D1E0-23B005F26465}"/>
              </a:ext>
            </a:extLst>
          </p:cNvPr>
          <p:cNvCxnSpPr>
            <a:cxnSpLocks/>
            <a:endCxn id="62" idx="3"/>
          </p:cNvCxnSpPr>
          <p:nvPr/>
        </p:nvCxnSpPr>
        <p:spPr>
          <a:xfrm>
            <a:off x="6996747" y="3895724"/>
            <a:ext cx="0" cy="295276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97BE22BD-CAF1-E6DA-4DF8-C40120E1C3F3}"/>
              </a:ext>
            </a:extLst>
          </p:cNvPr>
          <p:cNvCxnSpPr>
            <a:cxnSpLocks/>
            <a:endCxn id="63" idx="3"/>
          </p:cNvCxnSpPr>
          <p:nvPr/>
        </p:nvCxnSpPr>
        <p:spPr>
          <a:xfrm>
            <a:off x="8124507" y="3904296"/>
            <a:ext cx="0" cy="284323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A41666BA-4086-B9EA-9C64-3108C92D132F}"/>
              </a:ext>
            </a:extLst>
          </p:cNvPr>
          <p:cNvCxnSpPr>
            <a:cxnSpLocks/>
            <a:endCxn id="64" idx="3"/>
          </p:cNvCxnSpPr>
          <p:nvPr/>
        </p:nvCxnSpPr>
        <p:spPr>
          <a:xfrm flipH="1">
            <a:off x="9238139" y="3895724"/>
            <a:ext cx="1111" cy="292896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4781BF34-8058-E52F-DA65-0EA88D5E0406}"/>
              </a:ext>
            </a:extLst>
          </p:cNvPr>
          <p:cNvCxnSpPr>
            <a:cxnSpLocks/>
            <a:endCxn id="65" idx="3"/>
          </p:cNvCxnSpPr>
          <p:nvPr/>
        </p:nvCxnSpPr>
        <p:spPr>
          <a:xfrm>
            <a:off x="10396220" y="3895724"/>
            <a:ext cx="0" cy="29289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919F8669-BA07-BF1E-F2FE-17AEB5951D20}"/>
              </a:ext>
            </a:extLst>
          </p:cNvPr>
          <p:cNvCxnSpPr>
            <a:cxnSpLocks/>
          </p:cNvCxnSpPr>
          <p:nvPr/>
        </p:nvCxnSpPr>
        <p:spPr>
          <a:xfrm>
            <a:off x="5887084" y="3512183"/>
            <a:ext cx="0" cy="390526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2" name="Triángulo isósceles 61">
            <a:extLst>
              <a:ext uri="{FF2B5EF4-FFF2-40B4-BE49-F238E27FC236}">
                <a16:creationId xmlns:a16="http://schemas.microsoft.com/office/drawing/2014/main" id="{8FC379B6-F137-7738-DB82-6F3AE62DA1F4}"/>
              </a:ext>
            </a:extLst>
          </p:cNvPr>
          <p:cNvSpPr>
            <a:spLocks noGrp="1"/>
          </p:cNvSpPr>
          <p:nvPr/>
        </p:nvSpPr>
        <p:spPr>
          <a:xfrm rot="10800000">
            <a:off x="6949122" y="4191000"/>
            <a:ext cx="95250" cy="95250"/>
          </a:xfrm>
          <a:prstGeom prst="triangle">
            <a:avLst/>
          </a:prstGeom>
          <a:solidFill>
            <a:srgbClr val="4EA7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3" name="Triángulo isósceles 62">
            <a:extLst>
              <a:ext uri="{FF2B5EF4-FFF2-40B4-BE49-F238E27FC236}">
                <a16:creationId xmlns:a16="http://schemas.microsoft.com/office/drawing/2014/main" id="{F418CE07-079E-626C-BA06-164CD1E76F36}"/>
              </a:ext>
            </a:extLst>
          </p:cNvPr>
          <p:cNvSpPr>
            <a:spLocks noGrp="1"/>
          </p:cNvSpPr>
          <p:nvPr/>
        </p:nvSpPr>
        <p:spPr>
          <a:xfrm rot="10800000">
            <a:off x="8076882" y="4188619"/>
            <a:ext cx="95250" cy="95250"/>
          </a:xfrm>
          <a:prstGeom prst="triangle">
            <a:avLst/>
          </a:prstGeom>
          <a:solidFill>
            <a:srgbClr val="4EA7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4" name="Triángulo isósceles 63">
            <a:extLst>
              <a:ext uri="{FF2B5EF4-FFF2-40B4-BE49-F238E27FC236}">
                <a16:creationId xmlns:a16="http://schemas.microsoft.com/office/drawing/2014/main" id="{7833CBE6-0E4F-36BB-F3BE-4456F02D2A19}"/>
              </a:ext>
            </a:extLst>
          </p:cNvPr>
          <p:cNvSpPr>
            <a:spLocks noGrp="1"/>
          </p:cNvSpPr>
          <p:nvPr/>
        </p:nvSpPr>
        <p:spPr>
          <a:xfrm rot="10800000">
            <a:off x="9190514" y="4188620"/>
            <a:ext cx="95250" cy="95250"/>
          </a:xfrm>
          <a:prstGeom prst="triangle">
            <a:avLst/>
          </a:prstGeom>
          <a:solidFill>
            <a:srgbClr val="4EA7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5" name="Triángulo isósceles 64">
            <a:extLst>
              <a:ext uri="{FF2B5EF4-FFF2-40B4-BE49-F238E27FC236}">
                <a16:creationId xmlns:a16="http://schemas.microsoft.com/office/drawing/2014/main" id="{E105CFDB-6043-B42E-F790-CBFAC56F7EF1}"/>
              </a:ext>
            </a:extLst>
          </p:cNvPr>
          <p:cNvSpPr>
            <a:spLocks noGrp="1"/>
          </p:cNvSpPr>
          <p:nvPr/>
        </p:nvSpPr>
        <p:spPr>
          <a:xfrm rot="10800000">
            <a:off x="10348595" y="4188619"/>
            <a:ext cx="95250" cy="95250"/>
          </a:xfrm>
          <a:prstGeom prst="triangle">
            <a:avLst/>
          </a:prstGeom>
          <a:solidFill>
            <a:srgbClr val="4EA7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5" name="Triángulo isósceles 74">
            <a:extLst>
              <a:ext uri="{FF2B5EF4-FFF2-40B4-BE49-F238E27FC236}">
                <a16:creationId xmlns:a16="http://schemas.microsoft.com/office/drawing/2014/main" id="{508F7011-724E-1FE1-9D3E-3ACB558DCBCE}"/>
              </a:ext>
            </a:extLst>
          </p:cNvPr>
          <p:cNvSpPr>
            <a:spLocks noGrp="1"/>
          </p:cNvSpPr>
          <p:nvPr/>
        </p:nvSpPr>
        <p:spPr>
          <a:xfrm rot="10800000">
            <a:off x="4725034" y="4188619"/>
            <a:ext cx="95250" cy="95250"/>
          </a:xfrm>
          <a:prstGeom prst="triangle">
            <a:avLst/>
          </a:prstGeom>
          <a:solidFill>
            <a:srgbClr val="4EA7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6" name="Triángulo isósceles 75">
            <a:extLst>
              <a:ext uri="{FF2B5EF4-FFF2-40B4-BE49-F238E27FC236}">
                <a16:creationId xmlns:a16="http://schemas.microsoft.com/office/drawing/2014/main" id="{D6497AAC-9C4A-15EE-CCE3-FBACEC27A7D4}"/>
              </a:ext>
            </a:extLst>
          </p:cNvPr>
          <p:cNvSpPr>
            <a:spLocks noGrp="1"/>
          </p:cNvSpPr>
          <p:nvPr/>
        </p:nvSpPr>
        <p:spPr>
          <a:xfrm rot="10800000">
            <a:off x="5828426" y="4188619"/>
            <a:ext cx="95250" cy="95250"/>
          </a:xfrm>
          <a:prstGeom prst="triangle">
            <a:avLst/>
          </a:prstGeom>
          <a:solidFill>
            <a:srgbClr val="4EA7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7" name="Triángulo isósceles 76">
            <a:extLst>
              <a:ext uri="{FF2B5EF4-FFF2-40B4-BE49-F238E27FC236}">
                <a16:creationId xmlns:a16="http://schemas.microsoft.com/office/drawing/2014/main" id="{1698DD21-7F7B-39EF-37FC-E7E037855126}"/>
              </a:ext>
            </a:extLst>
          </p:cNvPr>
          <p:cNvSpPr>
            <a:spLocks noGrp="1"/>
          </p:cNvSpPr>
          <p:nvPr/>
        </p:nvSpPr>
        <p:spPr>
          <a:xfrm rot="10800000">
            <a:off x="3570367" y="4188619"/>
            <a:ext cx="95250" cy="95250"/>
          </a:xfrm>
          <a:prstGeom prst="triangle">
            <a:avLst/>
          </a:prstGeom>
          <a:solidFill>
            <a:srgbClr val="4EA7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8" name="Triángulo isósceles 77">
            <a:extLst>
              <a:ext uri="{FF2B5EF4-FFF2-40B4-BE49-F238E27FC236}">
                <a16:creationId xmlns:a16="http://schemas.microsoft.com/office/drawing/2014/main" id="{E75447A3-AC27-F2C5-7BA5-C91381E2B097}"/>
              </a:ext>
            </a:extLst>
          </p:cNvPr>
          <p:cNvSpPr>
            <a:spLocks noGrp="1"/>
          </p:cNvSpPr>
          <p:nvPr/>
        </p:nvSpPr>
        <p:spPr>
          <a:xfrm rot="10800000">
            <a:off x="2451179" y="4188619"/>
            <a:ext cx="95250" cy="95250"/>
          </a:xfrm>
          <a:prstGeom prst="triangle">
            <a:avLst/>
          </a:prstGeom>
          <a:solidFill>
            <a:srgbClr val="4EA7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1" name="Triángulo isósceles 80">
            <a:extLst>
              <a:ext uri="{FF2B5EF4-FFF2-40B4-BE49-F238E27FC236}">
                <a16:creationId xmlns:a16="http://schemas.microsoft.com/office/drawing/2014/main" id="{E9C3C32E-F1D0-9C49-861D-29F7C86AB4A2}"/>
              </a:ext>
            </a:extLst>
          </p:cNvPr>
          <p:cNvSpPr>
            <a:spLocks noGrp="1"/>
          </p:cNvSpPr>
          <p:nvPr/>
        </p:nvSpPr>
        <p:spPr>
          <a:xfrm rot="10800000">
            <a:off x="1328975" y="4188619"/>
            <a:ext cx="95250" cy="95250"/>
          </a:xfrm>
          <a:prstGeom prst="triangle">
            <a:avLst/>
          </a:prstGeom>
          <a:solidFill>
            <a:srgbClr val="4EA7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5" name="Imagen 84">
            <a:extLst>
              <a:ext uri="{FF2B5EF4-FFF2-40B4-BE49-F238E27FC236}">
                <a16:creationId xmlns:a16="http://schemas.microsoft.com/office/drawing/2014/main" id="{946E2E44-A6C9-BDB7-7C3B-F7DF56E25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9964" y="0"/>
            <a:ext cx="3502036" cy="58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7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FFB12477-B750-4321-BD0C-311720652CE5}"/>
              </a:ext>
            </a:extLst>
          </p:cNvPr>
          <p:cNvSpPr>
            <a:spLocks noGrp="1"/>
          </p:cNvSpPr>
          <p:nvPr/>
        </p:nvSpPr>
        <p:spPr>
          <a:xfrm>
            <a:off x="132080" y="132080"/>
            <a:ext cx="11917680" cy="65938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90D2793-2985-4DDB-8990-F3BA635A4313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590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COMUNICACION INTERNA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503449C-A4B6-448F-BF41-31E3F7B5C7CB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Feign </a:t>
            </a:r>
            <a:r>
              <a:rPr sz="2550" b="1" dirty="0" err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valida</a:t>
            </a:r>
            <a:r>
              <a:rPr sz="255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datos</a:t>
            </a:r>
            <a:r>
              <a:rPr sz="255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 entre </a:t>
            </a:r>
            <a:r>
              <a:rPr sz="2550" b="1" dirty="0" err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servicios</a:t>
            </a:r>
            <a:r>
              <a:rPr sz="255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 sin </a:t>
            </a:r>
            <a:r>
              <a:rPr sz="2550" b="1" dirty="0" err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compartir</a:t>
            </a:r>
            <a:r>
              <a:rPr sz="255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 bases.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3D9EF31-93F5-487E-A872-1DD76D8E4D6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32385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CA29650-54FA-409D-AA15-10475173DD59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6675" cy="1524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5C14404-EBFC-4071-91BE-FB69F7324354}"/>
              </a:ext>
            </a:extLst>
          </p:cNvPr>
          <p:cNvSpPr>
            <a:spLocks noGrp="1"/>
          </p:cNvSpPr>
          <p:nvPr/>
        </p:nvSpPr>
        <p:spPr>
          <a:xfrm>
            <a:off x="914400" y="17335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auth-service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DA59321-46EC-4545-BDBA-07EE19A2468A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27813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Registra y valida usuarios consultando user-service.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FFF5988-0B2D-44A0-A0A2-21E56BE5523B}"/>
              </a:ext>
            </a:extLst>
          </p:cNvPr>
          <p:cNvSpPr>
            <a:spLocks noGrp="1"/>
          </p:cNvSpPr>
          <p:nvPr/>
        </p:nvSpPr>
        <p:spPr>
          <a:xfrm>
            <a:off x="4495800" y="1524000"/>
            <a:ext cx="32385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7AB066D-809F-4AC2-B9F0-825D9E105EB4}"/>
              </a:ext>
            </a:extLst>
          </p:cNvPr>
          <p:cNvSpPr>
            <a:spLocks noGrp="1"/>
          </p:cNvSpPr>
          <p:nvPr/>
        </p:nvSpPr>
        <p:spPr>
          <a:xfrm>
            <a:off x="4495800" y="1524000"/>
            <a:ext cx="66675" cy="15240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D552A48-B974-4FE1-AC68-0D3E762A1D9D}"/>
              </a:ext>
            </a:extLst>
          </p:cNvPr>
          <p:cNvSpPr>
            <a:spLocks noGrp="1"/>
          </p:cNvSpPr>
          <p:nvPr/>
        </p:nvSpPr>
        <p:spPr>
          <a:xfrm>
            <a:off x="4724400" y="17335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profile-service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8185772-A3EE-4A89-9B38-814094C85121}"/>
              </a:ext>
            </a:extLst>
          </p:cNvPr>
          <p:cNvSpPr>
            <a:spLocks noGrp="1"/>
          </p:cNvSpPr>
          <p:nvPr/>
        </p:nvSpPr>
        <p:spPr>
          <a:xfrm>
            <a:off x="4724400" y="2076450"/>
            <a:ext cx="27813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Valida userId en user-service y favoriteGameId en game-service.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468588A-EFC0-4BCD-A5CA-E359672C3AAA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32385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1B79E57-6124-4372-8474-5695B0B30591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66675" cy="152400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BBE25E0-7D57-448A-B868-F6BF20FF9FCC}"/>
              </a:ext>
            </a:extLst>
          </p:cNvPr>
          <p:cNvSpPr>
            <a:spLocks noGrp="1"/>
          </p:cNvSpPr>
          <p:nvPr/>
        </p:nvSpPr>
        <p:spPr>
          <a:xfrm>
            <a:off x="8534400" y="17335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collectible-service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7B6CFC9-450B-4CC4-850A-B89FAD8F6B25}"/>
              </a:ext>
            </a:extLst>
          </p:cNvPr>
          <p:cNvSpPr>
            <a:spLocks noGrp="1"/>
          </p:cNvSpPr>
          <p:nvPr/>
        </p:nvSpPr>
        <p:spPr>
          <a:xfrm>
            <a:off x="8534400" y="2076450"/>
            <a:ext cx="27813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Valida userId y gameId antes de crear coleccionables.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D818902-EAD4-4D37-A10A-2C1CD40560F9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3238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6C28767-1FD5-491D-8BE4-B81B41CF67FE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66675" cy="14287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8515421-21D1-4C73-B3BB-1E5424EC23A2}"/>
              </a:ext>
            </a:extLst>
          </p:cNvPr>
          <p:cNvSpPr>
            <a:spLocks noGrp="1"/>
          </p:cNvSpPr>
          <p:nvPr/>
        </p:nvSpPr>
        <p:spPr>
          <a:xfrm>
            <a:off x="914400" y="3971925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forum-service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2739F56-C358-4D98-9520-E75C3E03DA32}"/>
              </a:ext>
            </a:extLst>
          </p:cNvPr>
          <p:cNvSpPr>
            <a:spLocks noGrp="1"/>
          </p:cNvSpPr>
          <p:nvPr/>
        </p:nvSpPr>
        <p:spPr>
          <a:xfrm>
            <a:off x="914400" y="4314825"/>
            <a:ext cx="2781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Valida que el usuario exista antes de publicar o comentar.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123C982-BB9B-46CE-AAE0-77721A8322E7}"/>
              </a:ext>
            </a:extLst>
          </p:cNvPr>
          <p:cNvSpPr>
            <a:spLocks noGrp="1"/>
          </p:cNvSpPr>
          <p:nvPr/>
        </p:nvSpPr>
        <p:spPr>
          <a:xfrm>
            <a:off x="4495800" y="3762375"/>
            <a:ext cx="3238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7DDC71B-8A5F-45A7-B820-1F11283F81BA}"/>
              </a:ext>
            </a:extLst>
          </p:cNvPr>
          <p:cNvSpPr>
            <a:spLocks noGrp="1"/>
          </p:cNvSpPr>
          <p:nvPr/>
        </p:nvSpPr>
        <p:spPr>
          <a:xfrm>
            <a:off x="4495800" y="3762375"/>
            <a:ext cx="66675" cy="142875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3573E9C-6A37-4AEF-BDA8-51BE671C5CD1}"/>
              </a:ext>
            </a:extLst>
          </p:cNvPr>
          <p:cNvSpPr>
            <a:spLocks noGrp="1"/>
          </p:cNvSpPr>
          <p:nvPr/>
        </p:nvSpPr>
        <p:spPr>
          <a:xfrm>
            <a:off x="4724400" y="3971925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chat / community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50710D0-7DFF-43D4-A4C2-4FBD1CCF66E0}"/>
              </a:ext>
            </a:extLst>
          </p:cNvPr>
          <p:cNvSpPr>
            <a:spLocks noGrp="1"/>
          </p:cNvSpPr>
          <p:nvPr/>
        </p:nvSpPr>
        <p:spPr>
          <a:xfrm>
            <a:off x="4724400" y="4314825"/>
            <a:ext cx="2781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Validan usuarios antes de mensajes, comunidades o miembros.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551269C-D85D-4874-9219-052D26A762B4}"/>
              </a:ext>
            </a:extLst>
          </p:cNvPr>
          <p:cNvSpPr>
            <a:spLocks noGrp="1"/>
          </p:cNvSpPr>
          <p:nvPr/>
        </p:nvSpPr>
        <p:spPr>
          <a:xfrm>
            <a:off x="8305800" y="3762375"/>
            <a:ext cx="3238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8541772-2BD9-45C5-AE30-EE4661E4E693}"/>
              </a:ext>
            </a:extLst>
          </p:cNvPr>
          <p:cNvSpPr>
            <a:spLocks noGrp="1"/>
          </p:cNvSpPr>
          <p:nvPr/>
        </p:nvSpPr>
        <p:spPr>
          <a:xfrm>
            <a:off x="8305800" y="3762375"/>
            <a:ext cx="66675" cy="14287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9697ED1-E453-4F05-B530-7B6B4BD20123}"/>
              </a:ext>
            </a:extLst>
          </p:cNvPr>
          <p:cNvSpPr>
            <a:spLocks noGrp="1"/>
          </p:cNvSpPr>
          <p:nvPr/>
        </p:nvSpPr>
        <p:spPr>
          <a:xfrm>
            <a:off x="8534400" y="3971925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notification-service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71E9C33-D773-4779-84A5-FA77540D83EB}"/>
              </a:ext>
            </a:extLst>
          </p:cNvPr>
          <p:cNvSpPr>
            <a:spLocks noGrp="1"/>
          </p:cNvSpPr>
          <p:nvPr/>
        </p:nvSpPr>
        <p:spPr>
          <a:xfrm>
            <a:off x="8534400" y="4314825"/>
            <a:ext cx="2781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Comprueba usuarios antes de crear notificaciones.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C16102E-A4A4-4AB7-90C8-EB82CB555741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PLAY.GG arquitectura | 4/5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C27909C2-BF3B-62E4-6EA7-FBC6E2B39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9964" y="0"/>
            <a:ext cx="3502036" cy="58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11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4909A7E2-B0F3-4459-1E52-4D9B1525C0AD}"/>
              </a:ext>
            </a:extLst>
          </p:cNvPr>
          <p:cNvSpPr>
            <a:spLocks noGrp="1"/>
          </p:cNvSpPr>
          <p:nvPr/>
        </p:nvSpPr>
        <p:spPr>
          <a:xfrm>
            <a:off x="111760" y="91440"/>
            <a:ext cx="11938000" cy="6664960"/>
          </a:xfrm>
          <a:prstGeom prst="rect">
            <a:avLst/>
          </a:prstGeom>
          <a:solidFill>
            <a:srgbClr val="F4B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algn="r"/>
            <a:endParaRPr lang="es-CL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964CD91-69F1-4CC6-847B-AC77DEDDBE39}"/>
              </a:ext>
            </a:extLst>
          </p:cNvPr>
          <p:cNvSpPr>
            <a:spLocks noGrp="1"/>
          </p:cNvSpPr>
          <p:nvPr/>
        </p:nvSpPr>
        <p:spPr>
          <a:xfrm>
            <a:off x="495300" y="965200"/>
            <a:ext cx="11290300" cy="5019040"/>
          </a:xfrm>
          <a:prstGeom prst="rect">
            <a:avLst/>
          </a:prstGeom>
          <a:solidFill>
            <a:srgbClr val="FCF2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algn="r"/>
            <a:endParaRPr lang="es-CL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52FE153-858A-4956-A092-801E1563E4D1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590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96224DF-1F56-44BC-B3E5-A6BF766DD705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Orden </a:t>
            </a:r>
            <a:r>
              <a:rPr sz="2550" b="1" dirty="0" err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recomendado</a:t>
            </a:r>
            <a:r>
              <a:rPr sz="255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 para </a:t>
            </a:r>
            <a:r>
              <a:rPr sz="2550" b="1" dirty="0" err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ejecutar</a:t>
            </a:r>
            <a:r>
              <a:rPr sz="255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6868B36-3DBA-44D5-ACB5-D8321C854F06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2381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2D8416D-6FE5-47C9-805D-9FDDE3280582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66675" cy="238125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F49CEF1-F3EF-4F79-B527-3B6F638B57C7}"/>
              </a:ext>
            </a:extLst>
          </p:cNvPr>
          <p:cNvSpPr>
            <a:spLocks noGrp="1"/>
          </p:cNvSpPr>
          <p:nvPr/>
        </p:nvSpPr>
        <p:spPr>
          <a:xfrm>
            <a:off x="1095375" y="1740535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1. MySQL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46DB2ED-5FD3-4C72-8612-471F066C2F1C}"/>
              </a:ext>
            </a:extLst>
          </p:cNvPr>
          <p:cNvSpPr>
            <a:spLocks noGrp="1"/>
          </p:cNvSpPr>
          <p:nvPr/>
        </p:nvSpPr>
        <p:spPr>
          <a:xfrm>
            <a:off x="1162050" y="2257425"/>
            <a:ext cx="1488440" cy="163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00" b="0" i="1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Iniciar</a:t>
            </a:r>
            <a:r>
              <a:rPr sz="1600" b="0" i="1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XAMPP y </a:t>
            </a:r>
            <a:r>
              <a:rPr sz="1600" b="0" i="1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crear</a:t>
            </a:r>
            <a:r>
              <a:rPr sz="1600" b="0" i="1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las bases</a:t>
            </a:r>
            <a:r>
              <a:rPr lang="es-MX" sz="1600" b="0" i="1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de datos de</a:t>
            </a:r>
            <a:r>
              <a:rPr sz="1600" b="0" i="1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lang="es-MX" sz="1600" b="0" i="1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Pl</a:t>
            </a:r>
            <a:r>
              <a:rPr sz="1600" b="0" i="1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ay</a:t>
            </a:r>
            <a:r>
              <a:rPr lang="es-MX" sz="1600" b="0" i="1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GG</a:t>
            </a:r>
            <a:r>
              <a:rPr sz="1600" b="0" i="1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A4DBD18-757B-43C4-AAA4-FDAF4501340C}"/>
              </a:ext>
            </a:extLst>
          </p:cNvPr>
          <p:cNvSpPr>
            <a:spLocks noGrp="1"/>
          </p:cNvSpPr>
          <p:nvPr/>
        </p:nvSpPr>
        <p:spPr>
          <a:xfrm>
            <a:off x="3524250" y="1524000"/>
            <a:ext cx="2381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CCEADCE-C4B4-424F-B93D-A018F9147B41}"/>
              </a:ext>
            </a:extLst>
          </p:cNvPr>
          <p:cNvSpPr>
            <a:spLocks noGrp="1"/>
          </p:cNvSpPr>
          <p:nvPr/>
        </p:nvSpPr>
        <p:spPr>
          <a:xfrm>
            <a:off x="3524250" y="1524000"/>
            <a:ext cx="66675" cy="23812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E57FF97-33C7-4EFE-977E-E624C702E877}"/>
              </a:ext>
            </a:extLst>
          </p:cNvPr>
          <p:cNvSpPr>
            <a:spLocks noGrp="1"/>
          </p:cNvSpPr>
          <p:nvPr/>
        </p:nvSpPr>
        <p:spPr>
          <a:xfrm>
            <a:off x="3857625" y="1740535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2. Eureka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48DBA72-8151-4FEF-92C0-23CBCB32701D}"/>
              </a:ext>
            </a:extLst>
          </p:cNvPr>
          <p:cNvSpPr>
            <a:spLocks noGrp="1"/>
          </p:cNvSpPr>
          <p:nvPr/>
        </p:nvSpPr>
        <p:spPr>
          <a:xfrm>
            <a:off x="3954145" y="2223770"/>
            <a:ext cx="1601470" cy="163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00" b="0" i="1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Levantar</a:t>
            </a:r>
            <a:r>
              <a:rPr sz="1600" b="0" i="1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discovery-service para registrar </a:t>
            </a:r>
            <a:r>
              <a:rPr sz="1600" b="0" i="1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servicios</a:t>
            </a:r>
            <a:r>
              <a:rPr sz="1600" b="0" i="1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785FC95-FA77-4C0A-A48B-DDC3C63239FE}"/>
              </a:ext>
            </a:extLst>
          </p:cNvPr>
          <p:cNvSpPr>
            <a:spLocks noGrp="1"/>
          </p:cNvSpPr>
          <p:nvPr/>
        </p:nvSpPr>
        <p:spPr>
          <a:xfrm>
            <a:off x="6286500" y="1524000"/>
            <a:ext cx="2381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7D0FD4E-A8FA-4E2F-8212-60D790FBD65D}"/>
              </a:ext>
            </a:extLst>
          </p:cNvPr>
          <p:cNvSpPr>
            <a:spLocks noGrp="1"/>
          </p:cNvSpPr>
          <p:nvPr/>
        </p:nvSpPr>
        <p:spPr>
          <a:xfrm>
            <a:off x="6286500" y="1524000"/>
            <a:ext cx="66675" cy="23812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0F080AA-3997-4870-ADA6-63F2379A7D46}"/>
              </a:ext>
            </a:extLst>
          </p:cNvPr>
          <p:cNvSpPr>
            <a:spLocks noGrp="1"/>
          </p:cNvSpPr>
          <p:nvPr/>
        </p:nvSpPr>
        <p:spPr>
          <a:xfrm>
            <a:off x="6619875" y="1740535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3. Gateway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6743E86-7EA8-4C8A-B157-EC8609C10D21}"/>
              </a:ext>
            </a:extLst>
          </p:cNvPr>
          <p:cNvSpPr>
            <a:spLocks noGrp="1"/>
          </p:cNvSpPr>
          <p:nvPr/>
        </p:nvSpPr>
        <p:spPr>
          <a:xfrm>
            <a:off x="6716395" y="2209800"/>
            <a:ext cx="1521460" cy="163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00" b="0" i="1" dirty="0" err="1">
                <a:solidFill>
                  <a:schemeClr val="bg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Levantar</a:t>
            </a:r>
            <a:r>
              <a:rPr sz="1600" b="0" i="1" dirty="0">
                <a:solidFill>
                  <a:schemeClr val="bg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 gateway-service </a:t>
            </a:r>
            <a:r>
              <a:rPr sz="1600" b="0" i="1" dirty="0" err="1">
                <a:solidFill>
                  <a:schemeClr val="bg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como</a:t>
            </a:r>
            <a:r>
              <a:rPr sz="1600" b="0" i="1" dirty="0">
                <a:solidFill>
                  <a:schemeClr val="bg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 entrada principal.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A30D396-88A0-47FF-B0EE-D30570650D40}"/>
              </a:ext>
            </a:extLst>
          </p:cNvPr>
          <p:cNvSpPr>
            <a:spLocks noGrp="1"/>
          </p:cNvSpPr>
          <p:nvPr/>
        </p:nvSpPr>
        <p:spPr>
          <a:xfrm>
            <a:off x="9048750" y="1524000"/>
            <a:ext cx="2381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6EB4ED1-956C-4D9E-A090-C1B3656880C4}"/>
              </a:ext>
            </a:extLst>
          </p:cNvPr>
          <p:cNvSpPr>
            <a:spLocks noGrp="1"/>
          </p:cNvSpPr>
          <p:nvPr/>
        </p:nvSpPr>
        <p:spPr>
          <a:xfrm>
            <a:off x="9048750" y="1524000"/>
            <a:ext cx="66675" cy="23812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4F7DB0F-1B9A-4EF5-803C-85AD4B1AB6F1}"/>
              </a:ext>
            </a:extLst>
          </p:cNvPr>
          <p:cNvSpPr>
            <a:spLocks noGrp="1"/>
          </p:cNvSpPr>
          <p:nvPr/>
        </p:nvSpPr>
        <p:spPr>
          <a:xfrm>
            <a:off x="9382125" y="1740535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4. Servicios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3D77A92-1923-471A-A325-5FEDB9614C16}"/>
              </a:ext>
            </a:extLst>
          </p:cNvPr>
          <p:cNvSpPr>
            <a:spLocks noGrp="1"/>
          </p:cNvSpPr>
          <p:nvPr/>
        </p:nvSpPr>
        <p:spPr>
          <a:xfrm>
            <a:off x="9396412" y="2193925"/>
            <a:ext cx="1752600" cy="163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00" b="0" i="1" dirty="0" err="1">
                <a:solidFill>
                  <a:schemeClr val="bg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Levantar</a:t>
            </a:r>
            <a:r>
              <a:rPr sz="1600" b="0" i="1" dirty="0">
                <a:solidFill>
                  <a:schemeClr val="bg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i="1" dirty="0" err="1">
                <a:solidFill>
                  <a:schemeClr val="bg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microservicios</a:t>
            </a:r>
            <a:r>
              <a:rPr sz="1600" b="0" i="1" dirty="0">
                <a:solidFill>
                  <a:schemeClr val="bg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 base y luego </a:t>
            </a:r>
            <a:r>
              <a:rPr sz="1600" b="0" i="1" dirty="0" err="1">
                <a:solidFill>
                  <a:schemeClr val="bg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el</a:t>
            </a:r>
            <a:r>
              <a:rPr sz="1600" b="0" i="1" dirty="0">
                <a:solidFill>
                  <a:schemeClr val="bg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 resto.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37C244E-B987-4BA0-9244-EBE23E82E493}"/>
              </a:ext>
            </a:extLst>
          </p:cNvPr>
          <p:cNvSpPr>
            <a:spLocks noGrp="1"/>
          </p:cNvSpPr>
          <p:nvPr/>
        </p:nvSpPr>
        <p:spPr>
          <a:xfrm>
            <a:off x="762000" y="4619625"/>
            <a:ext cx="10668000" cy="800100"/>
          </a:xfrm>
          <a:prstGeom prst="rect">
            <a:avLst/>
          </a:prstGeom>
          <a:solidFill>
            <a:srgbClr val="ECFDF5"/>
          </a:solidFill>
          <a:ln w="9525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24C8652-2C11-461D-8FC6-C9109ED290CA}"/>
              </a:ext>
            </a:extLst>
          </p:cNvPr>
          <p:cNvSpPr>
            <a:spLocks noGrp="1"/>
          </p:cNvSpPr>
          <p:nvPr/>
        </p:nvSpPr>
        <p:spPr>
          <a:xfrm>
            <a:off x="1162050" y="4876800"/>
            <a:ext cx="986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6653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6534"/>
                </a:solidFill>
                <a:latin typeface="Aptos"/>
                <a:ea typeface="Aptos"/>
                <a:cs typeface="Aptos"/>
              </a:rPr>
              <a:t>No hace falta compilar manualmente antes: spring-boot:run compila lo necesario al ejecutar cada servicio.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7A2D451-EE2F-414F-B74F-5463ABF56EE0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PLAY.GG arquitectura | 5/5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3B6AFA8E-8BF4-5F47-775F-2804BA3F6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9964" y="12065"/>
            <a:ext cx="3502036" cy="58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29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367</Words>
  <Application>Microsoft Office PowerPoint</Application>
  <DocSecurity>0</DocSecurity>
  <PresentationFormat>Panorámica</PresentationFormat>
  <Paragraphs>65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JUAN PABLO CASASSA URRA</cp:lastModifiedBy>
  <cp:revision>5</cp:revision>
  <dcterms:created xsi:type="dcterms:W3CDTF">2026-05-22T20:56:26Z</dcterms:created>
  <dcterms:modified xsi:type="dcterms:W3CDTF">2026-05-22T21:35:18Z</dcterms:modified>
</cp:coreProperties>
</file>