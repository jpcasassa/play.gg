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Open Sans 1 Bold" charset="1" panose="00000000000000000000"/>
      <p:regular r:id="rId27"/>
    </p:embeddedFont>
    <p:embeddedFont>
      <p:font typeface="Lato Bold" charset="1" panose="020F0502020204030203"/>
      <p:regular r:id="rId28"/>
    </p:embeddedFont>
    <p:embeddedFont>
      <p:font typeface="Lato" charset="1" panose="020F0502020204030203"/>
      <p:regular r:id="rId29"/>
    </p:embeddedFont>
    <p:embeddedFont>
      <p:font typeface="Open Sans 2 Bold" charset="1" panose="020B0806030504020204"/>
      <p:regular r:id="rId30"/>
    </p:embeddedFont>
    <p:embeddedFont>
      <p:font typeface="Lato Italics" charset="1" panose="020F0502020204030203"/>
      <p:regular r:id="rId31"/>
    </p:embeddedFont>
    <p:embeddedFont>
      <p:font typeface="Open Sans 1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1047750" y="5663168"/>
            <a:ext cx="0" cy="890232"/>
          </a:xfrm>
          <a:prstGeom prst="line">
            <a:avLst/>
          </a:prstGeom>
          <a:ln cap="flat" w="3810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633076" y="7403893"/>
            <a:ext cx="3708814" cy="37088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87483" y="3007826"/>
            <a:ext cx="8918759" cy="891875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5955" y="1731443"/>
            <a:ext cx="5060145" cy="127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4"/>
              </a:lnSpc>
            </a:pPr>
            <a:r>
              <a:rPr lang="en-US" b="true" sz="9840" spc="-492">
                <a:solidFill>
                  <a:srgbClr val="A6A6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PLAY.GG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351" y="5876711"/>
            <a:ext cx="449651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5"/>
              </a:lnSpc>
            </a:pPr>
            <a:r>
              <a:rPr lang="en-US" b="true" sz="15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Plataforma Gamer basada en Arquitectura de Microservicios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274322"/>
            <a:ext cx="1361575" cy="31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9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Integrantes: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255" y="8664212"/>
            <a:ext cx="2704041" cy="9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b="true" sz="1819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Juan Pablo Casassa Urra</a:t>
            </a:r>
          </a:p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b="true" sz="1819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Claudio Jaime</a:t>
            </a:r>
          </a:p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b="true" sz="1819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Martin Gonzalez Varela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654" y="1701832"/>
            <a:ext cx="5060145" cy="127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4"/>
              </a:lnSpc>
            </a:pPr>
            <a:r>
              <a:rPr lang="en-US" b="true" sz="9840" spc="-4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PLAY.GG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69653" y="0"/>
            <a:ext cx="864494" cy="10287000"/>
            <a:chOff x="0" y="0"/>
            <a:chExt cx="227686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7686">
                  <a:moveTo>
                    <a:pt x="0" y="0"/>
                  </a:moveTo>
                  <a:lnTo>
                    <a:pt x="227686" y="0"/>
                  </a:lnTo>
                  <a:lnTo>
                    <a:pt x="22768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45000"/>
                  </a:srgbClr>
                </a:gs>
                <a:gs pos="100000">
                  <a:srgbClr val="C23F00">
                    <a:alpha val="45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91434" y="3426034"/>
            <a:ext cx="5325619" cy="53256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884270"/>
            <a:ext cx="3993668" cy="316567"/>
            <a:chOff x="0" y="0"/>
            <a:chExt cx="964403" cy="76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266825"/>
            <a:ext cx="3904013" cy="138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</a:pPr>
            <a:r>
              <a:rPr lang="en-US" b="true" sz="10679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Índice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001125"/>
            <a:ext cx="744330" cy="22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5"/>
              </a:lnSpc>
              <a:spcBef>
                <a:spcPct val="0"/>
              </a:spcBef>
            </a:pPr>
            <a:r>
              <a:rPr lang="en-US" b="true" sz="131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3398" y="1487091"/>
            <a:ext cx="5447981" cy="90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9"/>
              </a:lnSpc>
            </a:pPr>
            <a:r>
              <a:rPr lang="en-US" sz="174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Contenidos de la presentación técnica del proyecto PLAY.GG, plataforma gamer basada en arquitectura de microservicios.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1458" y="3473088"/>
            <a:ext cx="1874313" cy="39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307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Introduccion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328" y="3861619"/>
            <a:ext cx="1630261" cy="34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Objetivo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9645" y="4724733"/>
            <a:ext cx="3091778" cy="39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307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Diseño de la Solución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5108320"/>
            <a:ext cx="3993668" cy="316567"/>
            <a:chOff x="0" y="0"/>
            <a:chExt cx="964403" cy="764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5477091"/>
            <a:ext cx="3993668" cy="316567"/>
            <a:chOff x="0" y="0"/>
            <a:chExt cx="964403" cy="764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35547" y="5085669"/>
            <a:ext cx="2801261" cy="70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Arquitectura General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Tecnologías Utilizadas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555124" y="4799953"/>
            <a:ext cx="3993668" cy="316567"/>
            <a:chOff x="0" y="0"/>
            <a:chExt cx="964403" cy="764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880215" y="4373322"/>
            <a:ext cx="5363190" cy="39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307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Implementación de la Arquitectura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555124" y="5168724"/>
            <a:ext cx="3993668" cy="316567"/>
            <a:chOff x="0" y="0"/>
            <a:chExt cx="964403" cy="764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55124" y="5537495"/>
            <a:ext cx="3993668" cy="316567"/>
            <a:chOff x="0" y="0"/>
            <a:chExt cx="964403" cy="764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55124" y="5906266"/>
            <a:ext cx="3993668" cy="316567"/>
            <a:chOff x="0" y="0"/>
            <a:chExt cx="964403" cy="764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662752" y="4777303"/>
            <a:ext cx="2727886" cy="1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Microservicios</a:t>
            </a:r>
          </a:p>
          <a:p>
            <a:pPr algn="l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API Gateway</a:t>
            </a:r>
          </a:p>
          <a:p>
            <a:pPr algn="l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Eureka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OpenFeign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09251" y="6576006"/>
            <a:ext cx="3421028" cy="39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307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Validación del Proyecto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564976" y="6989856"/>
            <a:ext cx="3993668" cy="316567"/>
            <a:chOff x="0" y="0"/>
            <a:chExt cx="964403" cy="764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64976" y="7358627"/>
            <a:ext cx="3993668" cy="316567"/>
            <a:chOff x="0" y="0"/>
            <a:chExt cx="964403" cy="7644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564976" y="7727398"/>
            <a:ext cx="3993668" cy="316567"/>
            <a:chOff x="0" y="0"/>
            <a:chExt cx="964403" cy="7644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4403" cy="76446"/>
            </a:xfrm>
            <a:custGeom>
              <a:avLst/>
              <a:gdLst/>
              <a:ahLst/>
              <a:cxnLst/>
              <a:rect r="r" b="b" t="t" l="l"/>
              <a:pathLst>
                <a:path h="76446" w="964403">
                  <a:moveTo>
                    <a:pt x="38223" y="0"/>
                  </a:moveTo>
                  <a:lnTo>
                    <a:pt x="926180" y="0"/>
                  </a:lnTo>
                  <a:cubicBezTo>
                    <a:pt x="947290" y="0"/>
                    <a:pt x="964403" y="17113"/>
                    <a:pt x="964403" y="38223"/>
                  </a:cubicBezTo>
                  <a:lnTo>
                    <a:pt x="964403" y="38223"/>
                  </a:lnTo>
                  <a:cubicBezTo>
                    <a:pt x="964403" y="48360"/>
                    <a:pt x="960376" y="58082"/>
                    <a:pt x="953208" y="65250"/>
                  </a:cubicBezTo>
                  <a:cubicBezTo>
                    <a:pt x="946040" y="72419"/>
                    <a:pt x="936317" y="76446"/>
                    <a:pt x="926180" y="76446"/>
                  </a:cubicBezTo>
                  <a:lnTo>
                    <a:pt x="38223" y="76446"/>
                  </a:lnTo>
                  <a:cubicBezTo>
                    <a:pt x="17113" y="76446"/>
                    <a:pt x="0" y="59333"/>
                    <a:pt x="0" y="38223"/>
                  </a:cubicBezTo>
                  <a:lnTo>
                    <a:pt x="0" y="38223"/>
                  </a:lnTo>
                  <a:cubicBezTo>
                    <a:pt x="0" y="17113"/>
                    <a:pt x="17113" y="0"/>
                    <a:pt x="38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47625"/>
              <a:ext cx="964403" cy="28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671823" y="6967206"/>
            <a:ext cx="1730849" cy="106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ruebas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Conclusiones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Preguntas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64720" y="2197182"/>
            <a:ext cx="3086828" cy="30868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87713" y="8009408"/>
            <a:ext cx="1800575" cy="18005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6590" y="913175"/>
            <a:ext cx="753849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64"/>
              </a:lnSpc>
            </a:pPr>
            <a:r>
              <a:rPr lang="en-US" b="true" sz="10303" spc="-37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 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01125"/>
            <a:ext cx="828082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34621" y="2645126"/>
            <a:ext cx="6468234" cy="64682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5044" y="5326695"/>
            <a:ext cx="5309402" cy="268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8"/>
              </a:lnSpc>
            </a:pPr>
            <a:r>
              <a:rPr lang="en-US" sz="224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PLAY.GG es una plataforma gamer diseñada para la gestión de comunidades y servicios de videojuegos. Resuelve la integración de múltiples servicios independientes y garantiza escalabilidad mediante una arquitectura de microservicios.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392593" y="7085541"/>
            <a:ext cx="731243" cy="887937"/>
          </a:xfrm>
          <a:custGeom>
            <a:avLst/>
            <a:gdLst/>
            <a:ahLst/>
            <a:cxnLst/>
            <a:rect r="r" b="b" t="t" l="l"/>
            <a:pathLst>
              <a:path h="887937" w="731243">
                <a:moveTo>
                  <a:pt x="0" y="0"/>
                </a:moveTo>
                <a:lnTo>
                  <a:pt x="731243" y="0"/>
                </a:lnTo>
                <a:lnTo>
                  <a:pt x="731243" y="887937"/>
                </a:lnTo>
                <a:lnTo>
                  <a:pt x="0" y="887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26896" y="5284011"/>
            <a:ext cx="982490" cy="806184"/>
          </a:xfrm>
          <a:custGeom>
            <a:avLst/>
            <a:gdLst/>
            <a:ahLst/>
            <a:cxnLst/>
            <a:rect r="r" b="b" t="t" l="l"/>
            <a:pathLst>
              <a:path h="806184" w="982490">
                <a:moveTo>
                  <a:pt x="0" y="0"/>
                </a:moveTo>
                <a:lnTo>
                  <a:pt x="982490" y="0"/>
                </a:lnTo>
                <a:lnTo>
                  <a:pt x="982490" y="806184"/>
                </a:lnTo>
                <a:lnTo>
                  <a:pt x="0" y="806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25085" y="5263496"/>
            <a:ext cx="4303320" cy="11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7"/>
              </a:lnSpc>
            </a:pPr>
            <a:r>
              <a:rPr lang="en-US" sz="174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Funcionalidades clave: autenticación, perfil de usuario, foros, chat en tiempo real y notificaciones push para la comunidad gamer.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8343" y="7137929"/>
            <a:ext cx="4303320" cy="11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7"/>
              </a:lnSpc>
            </a:pPr>
            <a:r>
              <a:rPr lang="en-US" sz="174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Gestión de juegos y coleccionables: catálogo de títulos, inventario personal y sistema de ítems coleccionables integrados en la plataforma.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306056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66825"/>
            <a:ext cx="10011697" cy="270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</a:pPr>
            <a:r>
              <a:rPr lang="en-US" b="true" sz="10679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 General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01125"/>
            <a:ext cx="817993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662222"/>
            <a:ext cx="970007" cy="1003347"/>
            <a:chOff x="0" y="0"/>
            <a:chExt cx="263323" cy="2723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11450" y="5662222"/>
            <a:ext cx="970007" cy="1003347"/>
            <a:chOff x="0" y="0"/>
            <a:chExt cx="263323" cy="2723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94199" y="5663890"/>
            <a:ext cx="970007" cy="1003347"/>
            <a:chOff x="0" y="0"/>
            <a:chExt cx="263323" cy="2723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83518" y="5850032"/>
            <a:ext cx="663175" cy="677847"/>
          </a:xfrm>
          <a:custGeom>
            <a:avLst/>
            <a:gdLst/>
            <a:ahLst/>
            <a:cxnLst/>
            <a:rect r="r" b="b" t="t" l="l"/>
            <a:pathLst>
              <a:path h="677847" w="663175">
                <a:moveTo>
                  <a:pt x="0" y="0"/>
                </a:moveTo>
                <a:lnTo>
                  <a:pt x="663175" y="0"/>
                </a:lnTo>
                <a:lnTo>
                  <a:pt x="663175" y="677847"/>
                </a:lnTo>
                <a:lnTo>
                  <a:pt x="0" y="677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31357" y="5799918"/>
            <a:ext cx="735868" cy="724749"/>
          </a:xfrm>
          <a:custGeom>
            <a:avLst/>
            <a:gdLst/>
            <a:ahLst/>
            <a:cxnLst/>
            <a:rect r="r" b="b" t="t" l="l"/>
            <a:pathLst>
              <a:path h="724749" w="735868">
                <a:moveTo>
                  <a:pt x="0" y="0"/>
                </a:moveTo>
                <a:lnTo>
                  <a:pt x="735867" y="0"/>
                </a:lnTo>
                <a:lnTo>
                  <a:pt x="735867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69375" y="5903857"/>
            <a:ext cx="489770" cy="565426"/>
          </a:xfrm>
          <a:custGeom>
            <a:avLst/>
            <a:gdLst/>
            <a:ahLst/>
            <a:cxnLst/>
            <a:rect r="r" b="b" t="t" l="l"/>
            <a:pathLst>
              <a:path h="565426" w="489770">
                <a:moveTo>
                  <a:pt x="0" y="0"/>
                </a:moveTo>
                <a:lnTo>
                  <a:pt x="489771" y="0"/>
                </a:lnTo>
                <a:lnTo>
                  <a:pt x="489771" y="565425"/>
                </a:lnTo>
                <a:lnTo>
                  <a:pt x="0" y="56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Cliente → API Gateway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cliente envía solicitudes HTTP al Spring Cloud Gateway, punto de entrada centralizado que enruta y filtra todas las peticiones hacia los microservicios correspondientes.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11450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Eureka Server → Microservicios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Gateway consulta Eureka para descubrir dinámicamente los microservicios registrados: user-service, auth-service, game-service, forum-service, chat-service y más.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94199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Microservicios → MySQL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gestiona su propia base de datos MySQL de forma independiente, garantizando aislamiento de datos y escalabilidad horizontal por servicio.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844298" y="8424648"/>
            <a:ext cx="3086828" cy="30868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69537" y="-900287"/>
            <a:ext cx="1800575" cy="180057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306056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52525"/>
            <a:ext cx="8552022" cy="295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34"/>
              </a:lnSpc>
            </a:pPr>
            <a:r>
              <a:rPr lang="en-US" b="true" sz="10679" spc="32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Tecnologías Utilizadas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662222"/>
            <a:ext cx="970007" cy="1003347"/>
            <a:chOff x="0" y="0"/>
            <a:chExt cx="263323" cy="2723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11450" y="5662222"/>
            <a:ext cx="970007" cy="1003347"/>
            <a:chOff x="0" y="0"/>
            <a:chExt cx="263323" cy="2723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94199" y="5663890"/>
            <a:ext cx="970007" cy="1003347"/>
            <a:chOff x="0" y="0"/>
            <a:chExt cx="263323" cy="2723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2049" y="5629595"/>
            <a:ext cx="756631" cy="828123"/>
          </a:xfrm>
          <a:custGeom>
            <a:avLst/>
            <a:gdLst/>
            <a:ahLst/>
            <a:cxnLst/>
            <a:rect r="r" b="b" t="t" l="l"/>
            <a:pathLst>
              <a:path h="828123" w="756631">
                <a:moveTo>
                  <a:pt x="0" y="0"/>
                </a:moveTo>
                <a:lnTo>
                  <a:pt x="756631" y="0"/>
                </a:lnTo>
                <a:lnTo>
                  <a:pt x="756631" y="828123"/>
                </a:lnTo>
                <a:lnTo>
                  <a:pt x="0" y="82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39299" y="5851689"/>
            <a:ext cx="512723" cy="627411"/>
          </a:xfrm>
          <a:custGeom>
            <a:avLst/>
            <a:gdLst/>
            <a:ahLst/>
            <a:cxnLst/>
            <a:rect r="r" b="b" t="t" l="l"/>
            <a:pathLst>
              <a:path h="627411" w="512723">
                <a:moveTo>
                  <a:pt x="0" y="0"/>
                </a:moveTo>
                <a:lnTo>
                  <a:pt x="512723" y="0"/>
                </a:lnTo>
                <a:lnTo>
                  <a:pt x="512723" y="627411"/>
                </a:lnTo>
                <a:lnTo>
                  <a:pt x="0" y="627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705451" y="5918555"/>
            <a:ext cx="783217" cy="461539"/>
          </a:xfrm>
          <a:custGeom>
            <a:avLst/>
            <a:gdLst/>
            <a:ahLst/>
            <a:cxnLst/>
            <a:rect r="r" b="b" t="t" l="l"/>
            <a:pathLst>
              <a:path h="461539" w="783217">
                <a:moveTo>
                  <a:pt x="0" y="0"/>
                </a:moveTo>
                <a:lnTo>
                  <a:pt x="783217" y="0"/>
                </a:lnTo>
                <a:lnTo>
                  <a:pt x="783217" y="461538"/>
                </a:lnTo>
                <a:lnTo>
                  <a:pt x="0" y="461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Backend &amp; Build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Spring Boot · Java 17 · Maven · Lombok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Base para el desarrollo de cada microservicio con inyección de dependencias, compilación y reducción de código boilerplate.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11450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Datos &amp; Documentación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MySQL · XAMPP · Swagger / OpenAPI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Almacenamiento relacional independiente por microservicio y documentación automática de endpoints REST.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94199" y="6873832"/>
            <a:ext cx="4275913" cy="127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 &amp; Pruebas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Spring Cloud Gateway · Netflix Eureka · OpenFeign · JUnit 5 · Mockito · GitHub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Descubrimiento, enrutamiento, comunicación entre servicios y cobertura de pruebas unitarias.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844298" y="8424648"/>
            <a:ext cx="3086828" cy="30868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69537" y="-900287"/>
            <a:ext cx="1800575" cy="180057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0548084" y="-4164819"/>
            <a:ext cx="10940177" cy="13180936"/>
          </a:xfrm>
          <a:custGeom>
            <a:avLst/>
            <a:gdLst/>
            <a:ahLst/>
            <a:cxnLst/>
            <a:rect r="r" b="b" t="t" l="l"/>
            <a:pathLst>
              <a:path h="13180936" w="10940177">
                <a:moveTo>
                  <a:pt x="0" y="0"/>
                </a:moveTo>
                <a:lnTo>
                  <a:pt x="10940177" y="0"/>
                </a:lnTo>
                <a:lnTo>
                  <a:pt x="10940177" y="13180936"/>
                </a:lnTo>
                <a:lnTo>
                  <a:pt x="0" y="1318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512760" y="4323730"/>
            <a:ext cx="8472022" cy="7561280"/>
          </a:xfrm>
          <a:custGeom>
            <a:avLst/>
            <a:gdLst/>
            <a:ahLst/>
            <a:cxnLst/>
            <a:rect r="r" b="b" t="t" l="l"/>
            <a:pathLst>
              <a:path h="7561280" w="8472022">
                <a:moveTo>
                  <a:pt x="0" y="0"/>
                </a:moveTo>
                <a:lnTo>
                  <a:pt x="8472023" y="0"/>
                </a:lnTo>
                <a:lnTo>
                  <a:pt x="8472023" y="7561280"/>
                </a:lnTo>
                <a:lnTo>
                  <a:pt x="0" y="7561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7250"/>
            <a:ext cx="7589380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  <a:r>
              <a:rPr lang="en-US" b="true" sz="4200" spc="-21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 de Microservicios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47850"/>
            <a:ext cx="5418709" cy="497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🔍 discovery-service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8761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Registro y descubrimiento de servicios con Netflix Eureka.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🌐 gateway-service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8080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Enrutamiento centralizado de solicitudes HTTP.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👤 user-service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8081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Gestión de usuarios y autenticación base.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🔐 auth-service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8082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Autenticación y autorización JWT.</a:t>
            </a:r>
          </a:p>
        </p:txBody>
      </p:sp>
      <p:sp>
        <p:nvSpPr>
          <p:cNvPr name="AutoShape 6" id="6"/>
          <p:cNvSpPr/>
          <p:nvPr/>
        </p:nvSpPr>
        <p:spPr>
          <a:xfrm>
            <a:off x="7729260" y="5143500"/>
            <a:ext cx="0" cy="890232"/>
          </a:xfrm>
          <a:prstGeom prst="line">
            <a:avLst/>
          </a:prstGeom>
          <a:ln cap="flat" w="38100">
            <a:gradFill>
              <a:gsLst>
                <a:gs pos="0">
                  <a:srgbClr val="E8692B">
                    <a:alpha val="0"/>
                  </a:srgbClr>
                </a:gs>
                <a:gs pos="100000">
                  <a:srgbClr val="C23F00">
                    <a:alpha val="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994078" y="1847850"/>
            <a:ext cx="3865224" cy="497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🧑‍💼 profile-service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8083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Perfil de usuario y configuración.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💬 forum-service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8084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Foros y publicaciones de comunidad.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🤝 community-service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8085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Grupos y comunidades gamer.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💭 chat-service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8086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Mensajería en tiempo real.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70947" y="1847850"/>
            <a:ext cx="4056082" cy="364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🔔 notification-service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8087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Alertas y notificaciones push.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🎮 game-service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8088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Gestión de juegos y catálogo.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🏆 collectible-service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b="true" sz="177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Puerto:</a:t>
            </a:r>
            <a:r>
              <a:rPr lang="en-US" sz="1770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8089</a:t>
            </a:r>
          </a:p>
          <a:p>
            <a:pPr algn="l" marL="0" indent="0" lvl="0">
              <a:lnSpc>
                <a:spcPts val="2655"/>
              </a:lnSpc>
              <a:spcBef>
                <a:spcPct val="0"/>
              </a:spcBef>
            </a:pPr>
            <a:r>
              <a:rPr lang="en-US" sz="1770" i="true" strike="noStrike" u="none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Coleccionables y logros de usuario.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17730"/>
            <a:ext cx="8646494" cy="66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8"/>
              </a:lnSpc>
              <a:spcBef>
                <a:spcPct val="0"/>
              </a:spcBef>
            </a:pPr>
            <a:r>
              <a:rPr lang="en-US" sz="1913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opera de forma independiente con su propia base de datos MySQL, registrado en Eureka y accesible a través del API Gateway centralizado.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77714" y="7527255"/>
            <a:ext cx="3013603" cy="98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4"/>
              </a:lnSpc>
              <a:spcBef>
                <a:spcPct val="0"/>
              </a:spcBef>
            </a:pPr>
            <a:r>
              <a:rPr lang="en-US" sz="1417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Total: 11 microservicios</a:t>
            </a:r>
          </a:p>
          <a:p>
            <a:pPr algn="l" marL="0" indent="0" lvl="0">
              <a:lnSpc>
                <a:spcPts val="1984"/>
              </a:lnSpc>
              <a:spcBef>
                <a:spcPct val="0"/>
              </a:spcBef>
            </a:pPr>
            <a:r>
              <a:rPr lang="en-US" sz="1417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Puertos: 8761, 8080–8089</a:t>
            </a:r>
          </a:p>
          <a:p>
            <a:pPr algn="l" marL="0" indent="0" lvl="0">
              <a:lnSpc>
                <a:spcPts val="1984"/>
              </a:lnSpc>
              <a:spcBef>
                <a:spcPct val="0"/>
              </a:spcBef>
            </a:pPr>
            <a:r>
              <a:rPr lang="en-US" sz="1417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Registro dinámico vía Eureka</a:t>
            </a:r>
          </a:p>
          <a:p>
            <a:pPr algn="l" marL="0" indent="0" lvl="0">
              <a:lnSpc>
                <a:spcPts val="1984"/>
              </a:lnSpc>
              <a:spcBef>
                <a:spcPct val="0"/>
              </a:spcBef>
            </a:pPr>
            <a:r>
              <a:rPr lang="en-US" sz="1417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Comunicación REST con OpenFeign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430500" y="-1651413"/>
            <a:ext cx="2857500" cy="2857500"/>
            <a:chOff x="0" y="0"/>
            <a:chExt cx="626231" cy="626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6231" cy="626231"/>
            </a:xfrm>
            <a:custGeom>
              <a:avLst/>
              <a:gdLst/>
              <a:ahLst/>
              <a:cxnLst/>
              <a:rect r="r" b="b" t="t" l="l"/>
              <a:pathLst>
                <a:path h="626231" w="626231">
                  <a:moveTo>
                    <a:pt x="313116" y="0"/>
                  </a:moveTo>
                  <a:cubicBezTo>
                    <a:pt x="140187" y="0"/>
                    <a:pt x="0" y="140187"/>
                    <a:pt x="0" y="313116"/>
                  </a:cubicBezTo>
                  <a:cubicBezTo>
                    <a:pt x="0" y="486045"/>
                    <a:pt x="140187" y="626231"/>
                    <a:pt x="313116" y="626231"/>
                  </a:cubicBezTo>
                  <a:cubicBezTo>
                    <a:pt x="486045" y="626231"/>
                    <a:pt x="626231" y="486045"/>
                    <a:pt x="626231" y="313116"/>
                  </a:cubicBezTo>
                  <a:cubicBezTo>
                    <a:pt x="626231" y="140187"/>
                    <a:pt x="486045" y="0"/>
                    <a:pt x="3131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58709" y="106334"/>
              <a:ext cx="508813" cy="461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192500" y="9048750"/>
            <a:ext cx="1905000" cy="1905000"/>
            <a:chOff x="0" y="0"/>
            <a:chExt cx="614099" cy="6140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099" cy="614099"/>
            </a:xfrm>
            <a:custGeom>
              <a:avLst/>
              <a:gdLst/>
              <a:ahLst/>
              <a:cxnLst/>
              <a:rect r="r" b="b" t="t" l="l"/>
              <a:pathLst>
                <a:path h="614099" w="614099">
                  <a:moveTo>
                    <a:pt x="307049" y="0"/>
                  </a:moveTo>
                  <a:cubicBezTo>
                    <a:pt x="137471" y="0"/>
                    <a:pt x="0" y="137471"/>
                    <a:pt x="0" y="307049"/>
                  </a:cubicBezTo>
                  <a:cubicBezTo>
                    <a:pt x="0" y="476628"/>
                    <a:pt x="137471" y="614099"/>
                    <a:pt x="307049" y="614099"/>
                  </a:cubicBezTo>
                  <a:cubicBezTo>
                    <a:pt x="476628" y="614099"/>
                    <a:pt x="614099" y="476628"/>
                    <a:pt x="614099" y="307049"/>
                  </a:cubicBezTo>
                  <a:cubicBezTo>
                    <a:pt x="614099" y="137471"/>
                    <a:pt x="476628" y="0"/>
                    <a:pt x="3070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57572" y="105197"/>
              <a:ext cx="498955" cy="451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92297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02117">
            <a:off x="-1900534" y="-980132"/>
            <a:ext cx="6468234" cy="646823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127873" y="3891216"/>
            <a:ext cx="3086828" cy="30868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17086" y="-894713"/>
            <a:ext cx="3086828" cy="30868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5999811" y="7397977"/>
            <a:ext cx="10960401" cy="0"/>
          </a:xfrm>
          <a:prstGeom prst="line">
            <a:avLst/>
          </a:prstGeom>
          <a:ln cap="flat" w="1905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999811" y="7252492"/>
            <a:ext cx="290970" cy="2909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94050" y="7252492"/>
            <a:ext cx="290970" cy="29097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25781" y="7252492"/>
            <a:ext cx="290970" cy="29097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85814" y="2912602"/>
            <a:ext cx="374265" cy="27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  <a:spcBef>
                <a:spcPct val="0"/>
              </a:spcBef>
            </a:pPr>
            <a:r>
              <a:rPr lang="en-US" sz="1571" strike="noStrike" u="none">
                <a:solidFill>
                  <a:srgbClr val="00B4D8"/>
                </a:solidFill>
                <a:latin typeface="Open Sans 1"/>
                <a:ea typeface="Open Sans 1"/>
                <a:cs typeface="Open Sans 1"/>
                <a:sym typeface="Open Sans 1"/>
              </a:rPr>
              <a:t>↓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814" y="2238926"/>
            <a:ext cx="374265" cy="27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  <a:spcBef>
                <a:spcPct val="0"/>
              </a:spcBef>
            </a:pPr>
            <a:r>
              <a:rPr lang="en-US" sz="1571" strike="noStrike" u="none">
                <a:solidFill>
                  <a:srgbClr val="00B4D8"/>
                </a:solidFill>
                <a:latin typeface="Open Sans 1"/>
                <a:ea typeface="Open Sans 1"/>
                <a:cs typeface="Open Sans 1"/>
                <a:sym typeface="Open Sans 1"/>
              </a:rPr>
              <a:t>↓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5814" y="1565250"/>
            <a:ext cx="374265" cy="27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  <a:spcBef>
                <a:spcPct val="0"/>
              </a:spcBef>
            </a:pPr>
            <a:r>
              <a:rPr lang="en-US" sz="1571" strike="noStrike" u="none">
                <a:solidFill>
                  <a:srgbClr val="00B4D8"/>
                </a:solidFill>
                <a:latin typeface="Open Sans 1"/>
                <a:ea typeface="Open Sans 1"/>
                <a:cs typeface="Open Sans 1"/>
                <a:sym typeface="Open Sans 1"/>
              </a:rPr>
              <a:t>↓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5814" y="891574"/>
            <a:ext cx="374265" cy="27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  <a:spcBef>
                <a:spcPct val="0"/>
              </a:spcBef>
            </a:pPr>
            <a:r>
              <a:rPr lang="en-US" sz="1571" strike="noStrike" u="none">
                <a:solidFill>
                  <a:srgbClr val="00B4D8"/>
                </a:solidFill>
                <a:latin typeface="Open Sans 1"/>
                <a:ea typeface="Open Sans 1"/>
                <a:cs typeface="Open Sans 1"/>
                <a:sym typeface="Open Sans 1"/>
              </a:rPr>
              <a:t>↓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24166" y="3207323"/>
            <a:ext cx="2544999" cy="449117"/>
            <a:chOff x="0" y="0"/>
            <a:chExt cx="431800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76200" y="0"/>
                  </a:moveTo>
                  <a:lnTo>
                    <a:pt x="4241800" y="0"/>
                  </a:lnTo>
                  <a:cubicBezTo>
                    <a:pt x="4283884" y="0"/>
                    <a:pt x="4318000" y="34116"/>
                    <a:pt x="4318000" y="76200"/>
                  </a:cubicBezTo>
                  <a:lnTo>
                    <a:pt x="4318000" y="685800"/>
                  </a:lnTo>
                  <a:cubicBezTo>
                    <a:pt x="4318000" y="727884"/>
                    <a:pt x="4283884" y="762000"/>
                    <a:pt x="424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318000" cy="79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MySQL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24166" y="2533647"/>
            <a:ext cx="2544999" cy="449117"/>
            <a:chOff x="0" y="0"/>
            <a:chExt cx="4318000" cy="762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76200" y="0"/>
                  </a:moveTo>
                  <a:lnTo>
                    <a:pt x="4241800" y="0"/>
                  </a:lnTo>
                  <a:cubicBezTo>
                    <a:pt x="4283884" y="0"/>
                    <a:pt x="4318000" y="34116"/>
                    <a:pt x="4318000" y="76200"/>
                  </a:cubicBezTo>
                  <a:lnTo>
                    <a:pt x="4318000" y="685800"/>
                  </a:lnTo>
                  <a:cubicBezTo>
                    <a:pt x="4318000" y="727884"/>
                    <a:pt x="4283884" y="762000"/>
                    <a:pt x="424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318000" cy="79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4166" y="1859971"/>
            <a:ext cx="2544999" cy="449117"/>
            <a:chOff x="0" y="0"/>
            <a:chExt cx="431800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76200" y="0"/>
                  </a:moveTo>
                  <a:lnTo>
                    <a:pt x="4241800" y="0"/>
                  </a:lnTo>
                  <a:cubicBezTo>
                    <a:pt x="4283884" y="0"/>
                    <a:pt x="4318000" y="34116"/>
                    <a:pt x="4318000" y="76200"/>
                  </a:cubicBezTo>
                  <a:lnTo>
                    <a:pt x="4318000" y="685800"/>
                  </a:lnTo>
                  <a:cubicBezTo>
                    <a:pt x="4318000" y="727884"/>
                    <a:pt x="4283884" y="762000"/>
                    <a:pt x="424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18000" cy="79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Repository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24166" y="1186295"/>
            <a:ext cx="2544999" cy="449117"/>
            <a:chOff x="0" y="0"/>
            <a:chExt cx="4318000" cy="76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76200" y="0"/>
                  </a:moveTo>
                  <a:lnTo>
                    <a:pt x="4241800" y="0"/>
                  </a:lnTo>
                  <a:cubicBezTo>
                    <a:pt x="4283884" y="0"/>
                    <a:pt x="4318000" y="34116"/>
                    <a:pt x="4318000" y="76200"/>
                  </a:cubicBezTo>
                  <a:lnTo>
                    <a:pt x="4318000" y="685800"/>
                  </a:lnTo>
                  <a:cubicBezTo>
                    <a:pt x="4318000" y="727884"/>
                    <a:pt x="4283884" y="762000"/>
                    <a:pt x="424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318000" cy="79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Service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4166" y="512619"/>
            <a:ext cx="2544999" cy="449117"/>
            <a:chOff x="0" y="0"/>
            <a:chExt cx="4318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1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318000">
                  <a:moveTo>
                    <a:pt x="76200" y="0"/>
                  </a:moveTo>
                  <a:lnTo>
                    <a:pt x="4241800" y="0"/>
                  </a:lnTo>
                  <a:cubicBezTo>
                    <a:pt x="4283884" y="0"/>
                    <a:pt x="4318000" y="34116"/>
                    <a:pt x="4318000" y="76200"/>
                  </a:cubicBezTo>
                  <a:lnTo>
                    <a:pt x="4318000" y="685800"/>
                  </a:lnTo>
                  <a:cubicBezTo>
                    <a:pt x="4318000" y="727884"/>
                    <a:pt x="4283884" y="762000"/>
                    <a:pt x="424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318000" cy="79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Controller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7679582" y="7181855"/>
            <a:ext cx="795101" cy="432246"/>
          </a:xfrm>
          <a:custGeom>
            <a:avLst/>
            <a:gdLst/>
            <a:ahLst/>
            <a:cxnLst/>
            <a:rect r="r" b="b" t="t" l="l"/>
            <a:pathLst>
              <a:path h="432246" w="795101">
                <a:moveTo>
                  <a:pt x="0" y="0"/>
                </a:moveTo>
                <a:lnTo>
                  <a:pt x="795101" y="0"/>
                </a:lnTo>
                <a:lnTo>
                  <a:pt x="795101" y="432245"/>
                </a:lnTo>
                <a:lnTo>
                  <a:pt x="0" y="432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999811" y="1209675"/>
            <a:ext cx="6181251" cy="210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75"/>
              </a:lnSpc>
            </a:pPr>
            <a:r>
              <a:rPr lang="en-US" b="true" sz="8325" spc="-41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  <a:p>
            <a:pPr algn="l" marL="0" indent="0" lvl="0">
              <a:lnSpc>
                <a:spcPts val="8075"/>
              </a:lnSpc>
            </a:pPr>
            <a:r>
              <a:rPr lang="en-US" b="true" sz="8325" spc="-41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Interna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9001125"/>
            <a:ext cx="773734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999811" y="5695859"/>
            <a:ext cx="8354279" cy="94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4"/>
              </a:lnSpc>
            </a:pPr>
            <a:r>
              <a:rPr lang="en-US" sz="182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sigue un patrón en capas bien definido: Controller → Service → Repository → Entity → MySQL. Esta separación de responsabilidades garantiza mantenibilidad, testabilidad y escalabilidad independiente.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999811" y="7962854"/>
            <a:ext cx="3596254" cy="76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Controller</a:t>
            </a:r>
          </a:p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Recibe solicitudes HTTP y delega la lógica al Service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4050" y="7962854"/>
            <a:ext cx="2533747" cy="101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Service → Repository</a:t>
            </a:r>
          </a:p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Lógica de negocio y acceso a datos vía JPA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925781" y="7962854"/>
            <a:ext cx="3333519" cy="76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Entity → MySQL</a:t>
            </a:r>
          </a:p>
          <a:p>
            <a:pPr algn="l" marL="0" indent="0" lvl="0">
              <a:lnSpc>
                <a:spcPts val="2017"/>
              </a:lnSpc>
            </a:pPr>
            <a:r>
              <a:rPr lang="en-US" b="true" sz="207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Modelado de datos y persistencia relacional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1957850" y="7204176"/>
            <a:ext cx="795101" cy="432246"/>
          </a:xfrm>
          <a:custGeom>
            <a:avLst/>
            <a:gdLst/>
            <a:ahLst/>
            <a:cxnLst/>
            <a:rect r="r" b="b" t="t" l="l"/>
            <a:pathLst>
              <a:path h="432246" w="795101">
                <a:moveTo>
                  <a:pt x="0" y="0"/>
                </a:moveTo>
                <a:lnTo>
                  <a:pt x="795100" y="0"/>
                </a:lnTo>
                <a:lnTo>
                  <a:pt x="795100" y="432245"/>
                </a:lnTo>
                <a:lnTo>
                  <a:pt x="0" y="432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5471491" y="7204176"/>
            <a:ext cx="795101" cy="432246"/>
          </a:xfrm>
          <a:custGeom>
            <a:avLst/>
            <a:gdLst/>
            <a:ahLst/>
            <a:cxnLst/>
            <a:rect r="r" b="b" t="t" l="l"/>
            <a:pathLst>
              <a:path h="432246" w="795101">
                <a:moveTo>
                  <a:pt x="0" y="0"/>
                </a:moveTo>
                <a:lnTo>
                  <a:pt x="795101" y="0"/>
                </a:lnTo>
                <a:lnTo>
                  <a:pt x="795101" y="432245"/>
                </a:lnTo>
                <a:lnTo>
                  <a:pt x="0" y="432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442743" y="7675180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64720" y="2197182"/>
            <a:ext cx="3086828" cy="30868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87713" y="8009408"/>
            <a:ext cx="1800575" cy="18005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266825"/>
            <a:ext cx="7291645" cy="270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</a:pPr>
            <a:r>
              <a:rPr lang="en-US" b="true" sz="10679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API Gateway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01125"/>
            <a:ext cx="830648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82479" y="2561467"/>
            <a:ext cx="6468234" cy="64682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14857" y="4553462"/>
            <a:ext cx="4126868" cy="329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39"/>
              </a:lnSpc>
            </a:pPr>
            <a:r>
              <a:rPr lang="en-US" sz="267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Gateway centraliza y enruta todas las solicitudes HTTP entrantes hacia los microservicios correspondientes, actuando como único punto de entrada de la plataforma.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78840" y="7192379"/>
            <a:ext cx="874070" cy="740774"/>
          </a:xfrm>
          <a:custGeom>
            <a:avLst/>
            <a:gdLst/>
            <a:ahLst/>
            <a:cxnLst/>
            <a:rect r="r" b="b" t="t" l="l"/>
            <a:pathLst>
              <a:path h="740774" w="874070">
                <a:moveTo>
                  <a:pt x="0" y="0"/>
                </a:moveTo>
                <a:lnTo>
                  <a:pt x="874069" y="0"/>
                </a:lnTo>
                <a:lnTo>
                  <a:pt x="874069" y="740774"/>
                </a:lnTo>
                <a:lnTo>
                  <a:pt x="0" y="740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78840" y="5795584"/>
            <a:ext cx="807383" cy="807383"/>
          </a:xfrm>
          <a:custGeom>
            <a:avLst/>
            <a:gdLst/>
            <a:ahLst/>
            <a:cxnLst/>
            <a:rect r="r" b="b" t="t" l="l"/>
            <a:pathLst>
              <a:path h="807383" w="807383">
                <a:moveTo>
                  <a:pt x="0" y="0"/>
                </a:moveTo>
                <a:lnTo>
                  <a:pt x="807383" y="0"/>
                </a:lnTo>
                <a:lnTo>
                  <a:pt x="807383" y="807383"/>
                </a:lnTo>
                <a:lnTo>
                  <a:pt x="0" y="807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83687" y="5757484"/>
            <a:ext cx="4314346" cy="89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3"/>
              </a:lnSpc>
            </a:pPr>
            <a:r>
              <a:rPr lang="en-US" sz="17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Cliente → Gateway → Microservicios: User, Profile, Game, Forum, Community, Chat, Notification, Collectible.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50374" y="7154279"/>
            <a:ext cx="4314346" cy="11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3"/>
              </a:lnSpc>
            </a:pPr>
            <a:r>
              <a:rPr lang="en-US" sz="17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Spring Cloud Gateway gestiona autenticación, balanceo de carga y enrutamiento dinámico consultando Eureka Server.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64720" y="2197182"/>
            <a:ext cx="3086828" cy="30868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87713" y="8009408"/>
            <a:ext cx="1800575" cy="18005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5955" y="1052927"/>
            <a:ext cx="5214318" cy="295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34"/>
              </a:lnSpc>
            </a:pPr>
            <a:r>
              <a:rPr lang="en-US" b="true" sz="10679" spc="60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Eureka Server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01125"/>
            <a:ext cx="802191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933478" y="2284266"/>
            <a:ext cx="6468234" cy="64682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4353524"/>
            <a:ext cx="4958498" cy="378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Registro y descubrimiento dinámico de servicios. Cada microservicio se registra automáticamente en Eureka al iniciar, permitiendo que el Gateway localice instancias sin configuración estática.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152453" y="6726676"/>
            <a:ext cx="651244" cy="648607"/>
          </a:xfrm>
          <a:custGeom>
            <a:avLst/>
            <a:gdLst/>
            <a:ahLst/>
            <a:cxnLst/>
            <a:rect r="r" b="b" t="t" l="l"/>
            <a:pathLst>
              <a:path h="648607" w="651244">
                <a:moveTo>
                  <a:pt x="0" y="0"/>
                </a:moveTo>
                <a:lnTo>
                  <a:pt x="651244" y="0"/>
                </a:lnTo>
                <a:lnTo>
                  <a:pt x="651244" y="648607"/>
                </a:lnTo>
                <a:lnTo>
                  <a:pt x="0" y="648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65397" y="5164184"/>
            <a:ext cx="604465" cy="652438"/>
          </a:xfrm>
          <a:custGeom>
            <a:avLst/>
            <a:gdLst/>
            <a:ahLst/>
            <a:cxnLst/>
            <a:rect r="r" b="b" t="t" l="l"/>
            <a:pathLst>
              <a:path h="652438" w="604465">
                <a:moveTo>
                  <a:pt x="0" y="0"/>
                </a:moveTo>
                <a:lnTo>
                  <a:pt x="604465" y="0"/>
                </a:lnTo>
                <a:lnTo>
                  <a:pt x="604465" y="652438"/>
                </a:lnTo>
                <a:lnTo>
                  <a:pt x="0" y="652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49746" y="5114925"/>
            <a:ext cx="3689960" cy="101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Registro de servicios: user-service, auth-service, profile-service, forum-service, chat-service y demás microservicios se registran en Eureka con su host y puerto al arrancar.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78263" y="6722192"/>
            <a:ext cx="3689960" cy="101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Descubrimiento dinámico: el API Gateway consulta Eureka para obtener la ubicación actualizada de cada microservicio y enrutar las peticiones de forma automática.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76374" y="7559792"/>
            <a:ext cx="3086828" cy="30868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88139" y="7323840"/>
            <a:ext cx="4285976" cy="4114800"/>
            <a:chOff x="0" y="0"/>
            <a:chExt cx="661416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141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614160">
                  <a:moveTo>
                    <a:pt x="6614160" y="0"/>
                  </a:moveTo>
                  <a:cubicBezTo>
                    <a:pt x="6614160" y="0"/>
                    <a:pt x="5133340" y="0"/>
                    <a:pt x="3307080" y="0"/>
                  </a:cubicBezTo>
                  <a:cubicBezTo>
                    <a:pt x="1480820" y="0"/>
                    <a:pt x="0" y="0"/>
                    <a:pt x="0" y="0"/>
                  </a:cubicBezTo>
                  <a:cubicBezTo>
                    <a:pt x="0" y="1365250"/>
                    <a:pt x="828040" y="2538730"/>
                    <a:pt x="2009140" y="3042920"/>
                  </a:cubicBezTo>
                  <a:cubicBezTo>
                    <a:pt x="828040" y="3042920"/>
                    <a:pt x="0" y="3042920"/>
                    <a:pt x="0" y="3042920"/>
                  </a:cubicBezTo>
                  <a:cubicBezTo>
                    <a:pt x="0" y="4869180"/>
                    <a:pt x="1480820" y="6350000"/>
                    <a:pt x="3307080" y="6350000"/>
                  </a:cubicBezTo>
                  <a:cubicBezTo>
                    <a:pt x="5133340" y="6350000"/>
                    <a:pt x="6614160" y="4869180"/>
                    <a:pt x="6614160" y="3042920"/>
                  </a:cubicBezTo>
                  <a:cubicBezTo>
                    <a:pt x="6614160" y="3042920"/>
                    <a:pt x="5786120" y="3042920"/>
                    <a:pt x="4605020" y="3042920"/>
                  </a:cubicBezTo>
                  <a:cubicBezTo>
                    <a:pt x="5786120" y="2538730"/>
                    <a:pt x="6614160" y="1365250"/>
                    <a:pt x="6614160" y="0"/>
                  </a:cubicBezTo>
                  <a:close/>
                </a:path>
              </a:pathLst>
            </a:custGeom>
            <a:blipFill>
              <a:blip r:embed="rId4"/>
              <a:stretch>
                <a:fillRect l="-68" t="0" r="-6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5955" y="1357673"/>
            <a:ext cx="11390614" cy="3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71"/>
              </a:lnSpc>
            </a:pPr>
            <a:r>
              <a:rPr lang="en-US" b="true" sz="8939" spc="-44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OpenFeign</a:t>
            </a:r>
          </a:p>
          <a:p>
            <a:pPr algn="l" marL="0" indent="0" lvl="0">
              <a:lnSpc>
                <a:spcPts val="9028"/>
              </a:lnSpc>
            </a:pPr>
            <a:r>
              <a:rPr lang="en-US" b="true" sz="8939" spc="-44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Comunicación REST Declarativa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143500"/>
            <a:ext cx="6021918" cy="2913893"/>
            <a:chOff x="0" y="0"/>
            <a:chExt cx="1399873" cy="6773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9873" cy="677372"/>
            </a:xfrm>
            <a:custGeom>
              <a:avLst/>
              <a:gdLst/>
              <a:ahLst/>
              <a:cxnLst/>
              <a:rect r="r" b="b" t="t" l="l"/>
              <a:pathLst>
                <a:path h="677372" w="1399873">
                  <a:moveTo>
                    <a:pt x="65567" y="0"/>
                  </a:moveTo>
                  <a:lnTo>
                    <a:pt x="1334307" y="0"/>
                  </a:lnTo>
                  <a:cubicBezTo>
                    <a:pt x="1370518" y="0"/>
                    <a:pt x="1399873" y="29355"/>
                    <a:pt x="1399873" y="65567"/>
                  </a:cubicBezTo>
                  <a:lnTo>
                    <a:pt x="1399873" y="611806"/>
                  </a:lnTo>
                  <a:cubicBezTo>
                    <a:pt x="1399873" y="629195"/>
                    <a:pt x="1392966" y="645872"/>
                    <a:pt x="1380669" y="658168"/>
                  </a:cubicBezTo>
                  <a:cubicBezTo>
                    <a:pt x="1368373" y="670465"/>
                    <a:pt x="1351696" y="677372"/>
                    <a:pt x="1334307" y="677372"/>
                  </a:cubicBezTo>
                  <a:lnTo>
                    <a:pt x="65567" y="677372"/>
                  </a:lnTo>
                  <a:cubicBezTo>
                    <a:pt x="48177" y="677372"/>
                    <a:pt x="31500" y="670465"/>
                    <a:pt x="19204" y="658168"/>
                  </a:cubicBezTo>
                  <a:cubicBezTo>
                    <a:pt x="6908" y="645872"/>
                    <a:pt x="0" y="629195"/>
                    <a:pt x="0" y="611806"/>
                  </a:cubicBezTo>
                  <a:lnTo>
                    <a:pt x="0" y="65567"/>
                  </a:lnTo>
                  <a:cubicBezTo>
                    <a:pt x="0" y="48177"/>
                    <a:pt x="6908" y="31500"/>
                    <a:pt x="19204" y="19204"/>
                  </a:cubicBezTo>
                  <a:cubicBezTo>
                    <a:pt x="31500" y="6908"/>
                    <a:pt x="48177" y="0"/>
                    <a:pt x="655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99873" cy="629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40988" y="5063280"/>
            <a:ext cx="6032624" cy="132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4"/>
              </a:lnSpc>
            </a:pPr>
            <a:r>
              <a:rPr lang="en-US" sz="192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consumidor declara una interfaz @FeignClient apuntando al servicio destino registrado en Eureka. Spring inyecta automáticamente el cliente y gestiona la comunicación REST.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9808" y="5483414"/>
            <a:ext cx="5104814" cy="215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6"/>
              </a:lnSpc>
            </a:pPr>
            <a:r>
              <a:rPr lang="en-US" sz="248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OpenFeign permite consumir APIs REST de otros microservicios de forma declarativa, usando interfaces anotadas sin implementación manual del cliente HTTP.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40988" y="6604691"/>
            <a:ext cx="6118715" cy="405738"/>
            <a:chOff x="0" y="0"/>
            <a:chExt cx="1884547" cy="1249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4547" cy="124966"/>
            </a:xfrm>
            <a:custGeom>
              <a:avLst/>
              <a:gdLst/>
              <a:ahLst/>
              <a:cxnLst/>
              <a:rect r="r" b="b" t="t" l="l"/>
              <a:pathLst>
                <a:path h="124966" w="1884547">
                  <a:moveTo>
                    <a:pt x="62483" y="0"/>
                  </a:moveTo>
                  <a:lnTo>
                    <a:pt x="1822064" y="0"/>
                  </a:lnTo>
                  <a:cubicBezTo>
                    <a:pt x="1838635" y="0"/>
                    <a:pt x="1854528" y="6583"/>
                    <a:pt x="1866246" y="18301"/>
                  </a:cubicBezTo>
                  <a:cubicBezTo>
                    <a:pt x="1877964" y="30019"/>
                    <a:pt x="1884547" y="45911"/>
                    <a:pt x="1884547" y="62483"/>
                  </a:cubicBezTo>
                  <a:lnTo>
                    <a:pt x="1884547" y="62483"/>
                  </a:lnTo>
                  <a:cubicBezTo>
                    <a:pt x="1884547" y="79055"/>
                    <a:pt x="1877964" y="94947"/>
                    <a:pt x="1866246" y="106665"/>
                  </a:cubicBezTo>
                  <a:cubicBezTo>
                    <a:pt x="1854528" y="118383"/>
                    <a:pt x="1838635" y="124966"/>
                    <a:pt x="1822064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1884547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40988" y="7120971"/>
            <a:ext cx="6118715" cy="405738"/>
            <a:chOff x="0" y="0"/>
            <a:chExt cx="1884547" cy="1249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4547" cy="124966"/>
            </a:xfrm>
            <a:custGeom>
              <a:avLst/>
              <a:gdLst/>
              <a:ahLst/>
              <a:cxnLst/>
              <a:rect r="r" b="b" t="t" l="l"/>
              <a:pathLst>
                <a:path h="124966" w="1884547">
                  <a:moveTo>
                    <a:pt x="62483" y="0"/>
                  </a:moveTo>
                  <a:lnTo>
                    <a:pt x="1822064" y="0"/>
                  </a:lnTo>
                  <a:cubicBezTo>
                    <a:pt x="1838635" y="0"/>
                    <a:pt x="1854528" y="6583"/>
                    <a:pt x="1866246" y="18301"/>
                  </a:cubicBezTo>
                  <a:cubicBezTo>
                    <a:pt x="1877964" y="30019"/>
                    <a:pt x="1884547" y="45911"/>
                    <a:pt x="1884547" y="62483"/>
                  </a:cubicBezTo>
                  <a:lnTo>
                    <a:pt x="1884547" y="62483"/>
                  </a:lnTo>
                  <a:cubicBezTo>
                    <a:pt x="1884547" y="79055"/>
                    <a:pt x="1877964" y="94947"/>
                    <a:pt x="1866246" y="106665"/>
                  </a:cubicBezTo>
                  <a:cubicBezTo>
                    <a:pt x="1854528" y="118383"/>
                    <a:pt x="1838635" y="124966"/>
                    <a:pt x="1822064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884547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484742" y="6654011"/>
            <a:ext cx="4831207" cy="28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3"/>
              </a:lnSpc>
            </a:pPr>
            <a:r>
              <a:rPr lang="en-US" sz="1681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Profile → User  |  Profile → Game  |  Forum → User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5460" y="7160312"/>
            <a:ext cx="5616260" cy="28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3"/>
              </a:lnSpc>
            </a:pPr>
            <a:r>
              <a:rPr lang="en-US" sz="1681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Community → User  |  Chat → User  |  Notification → User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40988" y="7637251"/>
            <a:ext cx="6118715" cy="405738"/>
            <a:chOff x="0" y="0"/>
            <a:chExt cx="1884547" cy="124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84547" cy="124966"/>
            </a:xfrm>
            <a:custGeom>
              <a:avLst/>
              <a:gdLst/>
              <a:ahLst/>
              <a:cxnLst/>
              <a:rect r="r" b="b" t="t" l="l"/>
              <a:pathLst>
                <a:path h="124966" w="1884547">
                  <a:moveTo>
                    <a:pt x="62483" y="0"/>
                  </a:moveTo>
                  <a:lnTo>
                    <a:pt x="1822064" y="0"/>
                  </a:lnTo>
                  <a:cubicBezTo>
                    <a:pt x="1838635" y="0"/>
                    <a:pt x="1854528" y="6583"/>
                    <a:pt x="1866246" y="18301"/>
                  </a:cubicBezTo>
                  <a:cubicBezTo>
                    <a:pt x="1877964" y="30019"/>
                    <a:pt x="1884547" y="45911"/>
                    <a:pt x="1884547" y="62483"/>
                  </a:cubicBezTo>
                  <a:lnTo>
                    <a:pt x="1884547" y="62483"/>
                  </a:lnTo>
                  <a:cubicBezTo>
                    <a:pt x="1884547" y="79055"/>
                    <a:pt x="1877964" y="94947"/>
                    <a:pt x="1866246" y="106665"/>
                  </a:cubicBezTo>
                  <a:cubicBezTo>
                    <a:pt x="1854528" y="118383"/>
                    <a:pt x="1838635" y="124966"/>
                    <a:pt x="1822064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47625"/>
              <a:ext cx="1884547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894910" y="7677299"/>
            <a:ext cx="4010871" cy="28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3"/>
              </a:lnSpc>
            </a:pPr>
            <a:r>
              <a:rPr lang="en-US" sz="1681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Collectible → User  |  Collectible → Game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973324" y="-900287"/>
            <a:ext cx="1800575" cy="180057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20020" y="-825707"/>
            <a:ext cx="3708814" cy="370881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238250"/>
            <a:ext cx="11292893" cy="245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30"/>
              </a:lnSpc>
            </a:pPr>
            <a:r>
              <a:rPr lang="en-US" b="true" sz="9722" spc="-4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Dependencias entre</a:t>
            </a:r>
          </a:p>
          <a:p>
            <a:pPr algn="l" marL="0" indent="0" lvl="0">
              <a:lnSpc>
                <a:spcPts val="9430"/>
              </a:lnSpc>
            </a:pPr>
            <a:r>
              <a:rPr lang="en-US" b="true" sz="9722" spc="-4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Microservicios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001125"/>
            <a:ext cx="816117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  <p:sp>
        <p:nvSpPr>
          <p:cNvPr name="AutoShape 9" id="9"/>
          <p:cNvSpPr/>
          <p:nvPr/>
        </p:nvSpPr>
        <p:spPr>
          <a:xfrm>
            <a:off x="1047750" y="5143500"/>
            <a:ext cx="0" cy="890232"/>
          </a:xfrm>
          <a:prstGeom prst="line">
            <a:avLst/>
          </a:prstGeom>
          <a:ln cap="flat" w="3810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086143" y="5143500"/>
            <a:ext cx="0" cy="890232"/>
          </a:xfrm>
          <a:prstGeom prst="line">
            <a:avLst/>
          </a:prstGeom>
          <a:ln cap="flat" w="3810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07318" y="5181600"/>
            <a:ext cx="2582043" cy="23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5"/>
              </a:lnSpc>
            </a:pPr>
            <a:r>
              <a:rPr lang="en-US" b="true" sz="18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Servicios Independientes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45711" y="5181600"/>
            <a:ext cx="2582043" cy="23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5"/>
              </a:lnSpc>
            </a:pPr>
            <a:r>
              <a:rPr lang="en-US" b="true" sz="18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Servicios Consumidores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7318" y="5781219"/>
            <a:ext cx="4994278" cy="179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🔷 discovery-service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Registro y descubrimiento de servicios. Sin dependencias externas.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🔷 gateway-service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Enrutamiento centralizado. Consulta Eureka.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🔷 auth-service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Autenticación JWT. Independiente.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5711" y="5781219"/>
            <a:ext cx="4994278" cy="153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profile-service → user-service, game-service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forum-service → user-service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community-service → user-service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chat-service → user-service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notification-service → user-service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 collectible-service → user-service, game-service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5711" y="8467725"/>
            <a:ext cx="8170670" cy="76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posee su propia base de datos MySQL independiente. Las comunicaciones entre servicios se realizan mediante OpenFeign (REST declarativo). No existen bases de datos compartidas entre servicios.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001916" y="1358341"/>
            <a:ext cx="5480154" cy="548015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32713" y="8496300"/>
            <a:ext cx="2521393" cy="252139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568565"/>
            <a:ext cx="2120185" cy="6829237"/>
            <a:chOff x="0" y="0"/>
            <a:chExt cx="558403" cy="1798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402" cy="1798647"/>
            </a:xfrm>
            <a:custGeom>
              <a:avLst/>
              <a:gdLst/>
              <a:ahLst/>
              <a:cxnLst/>
              <a:rect r="r" b="b" t="t" l="l"/>
              <a:pathLst>
                <a:path h="1798647" w="558402">
                  <a:moveTo>
                    <a:pt x="135107" y="0"/>
                  </a:moveTo>
                  <a:lnTo>
                    <a:pt x="423296" y="0"/>
                  </a:lnTo>
                  <a:cubicBezTo>
                    <a:pt x="459128" y="0"/>
                    <a:pt x="493493" y="14234"/>
                    <a:pt x="518831" y="39572"/>
                  </a:cubicBezTo>
                  <a:cubicBezTo>
                    <a:pt x="544168" y="64909"/>
                    <a:pt x="558402" y="99274"/>
                    <a:pt x="558402" y="135107"/>
                  </a:cubicBezTo>
                  <a:lnTo>
                    <a:pt x="558402" y="1663540"/>
                  </a:lnTo>
                  <a:cubicBezTo>
                    <a:pt x="558402" y="1738157"/>
                    <a:pt x="497913" y="1798647"/>
                    <a:pt x="423296" y="1798647"/>
                  </a:cubicBezTo>
                  <a:lnTo>
                    <a:pt x="135107" y="1798647"/>
                  </a:lnTo>
                  <a:cubicBezTo>
                    <a:pt x="99274" y="1798647"/>
                    <a:pt x="64909" y="1784412"/>
                    <a:pt x="39572" y="1759075"/>
                  </a:cubicBezTo>
                  <a:cubicBezTo>
                    <a:pt x="14234" y="1733738"/>
                    <a:pt x="0" y="1699373"/>
                    <a:pt x="0" y="1663540"/>
                  </a:cubicBezTo>
                  <a:lnTo>
                    <a:pt x="0" y="135107"/>
                  </a:lnTo>
                  <a:cubicBezTo>
                    <a:pt x="0" y="99274"/>
                    <a:pt x="14234" y="64909"/>
                    <a:pt x="39572" y="39572"/>
                  </a:cubicBezTo>
                  <a:cubicBezTo>
                    <a:pt x="64909" y="14234"/>
                    <a:pt x="99274" y="0"/>
                    <a:pt x="1351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8403" cy="183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32719" y="4568565"/>
            <a:ext cx="2120185" cy="6829237"/>
            <a:chOff x="0" y="0"/>
            <a:chExt cx="558403" cy="17986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402" cy="1798647"/>
            </a:xfrm>
            <a:custGeom>
              <a:avLst/>
              <a:gdLst/>
              <a:ahLst/>
              <a:cxnLst/>
              <a:rect r="r" b="b" t="t" l="l"/>
              <a:pathLst>
                <a:path h="1798647" w="558402">
                  <a:moveTo>
                    <a:pt x="135107" y="0"/>
                  </a:moveTo>
                  <a:lnTo>
                    <a:pt x="423296" y="0"/>
                  </a:lnTo>
                  <a:cubicBezTo>
                    <a:pt x="459128" y="0"/>
                    <a:pt x="493493" y="14234"/>
                    <a:pt x="518831" y="39572"/>
                  </a:cubicBezTo>
                  <a:cubicBezTo>
                    <a:pt x="544168" y="64909"/>
                    <a:pt x="558402" y="99274"/>
                    <a:pt x="558402" y="135107"/>
                  </a:cubicBezTo>
                  <a:lnTo>
                    <a:pt x="558402" y="1663540"/>
                  </a:lnTo>
                  <a:cubicBezTo>
                    <a:pt x="558402" y="1738157"/>
                    <a:pt x="497913" y="1798647"/>
                    <a:pt x="423296" y="1798647"/>
                  </a:cubicBezTo>
                  <a:lnTo>
                    <a:pt x="135107" y="1798647"/>
                  </a:lnTo>
                  <a:cubicBezTo>
                    <a:pt x="99274" y="1798647"/>
                    <a:pt x="64909" y="1784412"/>
                    <a:pt x="39572" y="1759075"/>
                  </a:cubicBezTo>
                  <a:cubicBezTo>
                    <a:pt x="14234" y="1733738"/>
                    <a:pt x="0" y="1699373"/>
                    <a:pt x="0" y="1663540"/>
                  </a:cubicBezTo>
                  <a:lnTo>
                    <a:pt x="0" y="135107"/>
                  </a:lnTo>
                  <a:cubicBezTo>
                    <a:pt x="0" y="99274"/>
                    <a:pt x="14234" y="64909"/>
                    <a:pt x="39572" y="39572"/>
                  </a:cubicBezTo>
                  <a:cubicBezTo>
                    <a:pt x="64909" y="14234"/>
                    <a:pt x="99274" y="0"/>
                    <a:pt x="1351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58403" cy="183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4830" y="4961747"/>
            <a:ext cx="2988109" cy="4296553"/>
            <a:chOff x="0" y="0"/>
            <a:chExt cx="462936" cy="665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936" cy="665649"/>
            </a:xfrm>
            <a:custGeom>
              <a:avLst/>
              <a:gdLst/>
              <a:ahLst/>
              <a:cxnLst/>
              <a:rect r="r" b="b" t="t" l="l"/>
              <a:pathLst>
                <a:path h="665649" w="462936">
                  <a:moveTo>
                    <a:pt x="132136" y="0"/>
                  </a:moveTo>
                  <a:lnTo>
                    <a:pt x="330800" y="0"/>
                  </a:lnTo>
                  <a:cubicBezTo>
                    <a:pt x="403777" y="0"/>
                    <a:pt x="462936" y="59159"/>
                    <a:pt x="462936" y="132136"/>
                  </a:cubicBezTo>
                  <a:lnTo>
                    <a:pt x="462936" y="533512"/>
                  </a:lnTo>
                  <a:cubicBezTo>
                    <a:pt x="462936" y="606489"/>
                    <a:pt x="403777" y="665649"/>
                    <a:pt x="330800" y="665649"/>
                  </a:cubicBezTo>
                  <a:lnTo>
                    <a:pt x="132136" y="665649"/>
                  </a:lnTo>
                  <a:cubicBezTo>
                    <a:pt x="59159" y="665649"/>
                    <a:pt x="0" y="606489"/>
                    <a:pt x="0" y="533512"/>
                  </a:cubicBezTo>
                  <a:lnTo>
                    <a:pt x="0" y="132136"/>
                  </a:lnTo>
                  <a:cubicBezTo>
                    <a:pt x="0" y="59159"/>
                    <a:pt x="59159" y="0"/>
                    <a:pt x="132136" y="0"/>
                  </a:cubicBezTo>
                  <a:close/>
                </a:path>
              </a:pathLst>
            </a:custGeom>
            <a:blipFill>
              <a:blip r:embed="rId4"/>
              <a:stretch>
                <a:fillRect l="-325" t="0" r="-32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58850" y="4961747"/>
            <a:ext cx="2988109" cy="4296553"/>
            <a:chOff x="0" y="0"/>
            <a:chExt cx="462936" cy="6656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2936" cy="665649"/>
            </a:xfrm>
            <a:custGeom>
              <a:avLst/>
              <a:gdLst/>
              <a:ahLst/>
              <a:cxnLst/>
              <a:rect r="r" b="b" t="t" l="l"/>
              <a:pathLst>
                <a:path h="665649" w="462936">
                  <a:moveTo>
                    <a:pt x="132136" y="0"/>
                  </a:moveTo>
                  <a:lnTo>
                    <a:pt x="330800" y="0"/>
                  </a:lnTo>
                  <a:cubicBezTo>
                    <a:pt x="403777" y="0"/>
                    <a:pt x="462936" y="59159"/>
                    <a:pt x="462936" y="132136"/>
                  </a:cubicBezTo>
                  <a:lnTo>
                    <a:pt x="462936" y="533512"/>
                  </a:lnTo>
                  <a:cubicBezTo>
                    <a:pt x="462936" y="606489"/>
                    <a:pt x="403777" y="665649"/>
                    <a:pt x="330800" y="665649"/>
                  </a:cubicBezTo>
                  <a:lnTo>
                    <a:pt x="132136" y="665649"/>
                  </a:lnTo>
                  <a:cubicBezTo>
                    <a:pt x="59159" y="665649"/>
                    <a:pt x="0" y="606489"/>
                    <a:pt x="0" y="533512"/>
                  </a:cubicBezTo>
                  <a:lnTo>
                    <a:pt x="0" y="132136"/>
                  </a:lnTo>
                  <a:cubicBezTo>
                    <a:pt x="0" y="59159"/>
                    <a:pt x="59159" y="0"/>
                    <a:pt x="132136" y="0"/>
                  </a:cubicBezTo>
                  <a:close/>
                </a:path>
              </a:pathLst>
            </a:custGeom>
            <a:blipFill>
              <a:blip r:embed="rId5"/>
              <a:stretch>
                <a:fillRect l="-325" t="0" r="-32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1386470"/>
            <a:ext cx="9458783" cy="138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</a:pPr>
            <a:r>
              <a:rPr lang="en-US" b="true" sz="10679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Bases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81087" y="6547261"/>
            <a:ext cx="2663986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Base de datos por microservicio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5106" y="6547261"/>
            <a:ext cx="2678215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Sin bases de datos compartidas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81087" y="7658100"/>
            <a:ext cx="367419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(user, auth, profile, forum, chat, game, collectible) posee su propia base de datos MySQL independiente, garantizando aislamiento total de datos.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5106" y="7658100"/>
            <a:ext cx="367419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existe acceso cruzado directo entre bases de datos. La comunicación entre servicios se realiza únicamente a través de APIs REST, respetando los límites de cada dominio.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744586" y="2431554"/>
            <a:ext cx="3086828" cy="308682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73324" y="-900287"/>
            <a:ext cx="1800575" cy="18005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196039" y="663357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27873" y="3974968"/>
            <a:ext cx="3086828" cy="30868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17086" y="-894713"/>
            <a:ext cx="3086828" cy="30868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707654" y="-1184223"/>
            <a:ext cx="6468234" cy="64682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H="true">
            <a:off x="5203028" y="7299924"/>
            <a:ext cx="11259489" cy="0"/>
          </a:xfrm>
          <a:prstGeom prst="line">
            <a:avLst/>
          </a:prstGeom>
          <a:ln cap="flat" w="1905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203028" y="7154439"/>
            <a:ext cx="290970" cy="2909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109834" y="1095375"/>
            <a:ext cx="10019683" cy="276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806"/>
              </a:lnSpc>
            </a:pPr>
            <a:r>
              <a:rPr lang="en-US" b="true" sz="9563" spc="-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Flujo Completo de Petición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001125"/>
            <a:ext cx="930255" cy="23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1"/>
              </a:lnSpc>
              <a:spcBef>
                <a:spcPct val="0"/>
              </a:spcBef>
            </a:pPr>
            <a:r>
              <a:rPr lang="en-US" b="true" sz="1443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03028" y="5274320"/>
            <a:ext cx="10033223" cy="10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1"/>
              </a:lnSpc>
            </a:pPr>
            <a:r>
              <a:rPr lang="en-US" sz="207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solicitud recorre una cadena de componentes antes de retornar la respuesta al cliente. El Gateway centraliza el enrutamiento, Eureka resuelve la ubicación dinámica del servicio, y el microservicio ejecuta la lógica accediendo a su base de datos MySQL.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03028" y="7864801"/>
            <a:ext cx="3596254" cy="64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① Cliente → Gateway</a:t>
            </a:r>
          </a:p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El cliente envía la petición HTTP al API Gateway centralizado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97266" y="7154439"/>
            <a:ext cx="290970" cy="2909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28998" y="7154439"/>
            <a:ext cx="290970" cy="29097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97266" y="7864801"/>
            <a:ext cx="2533747" cy="127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② Gateway → Eureka → Microservicio</a:t>
            </a:r>
          </a:p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Gateway consulta Eureka, obtiene la ubicación y enruta la solicitud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28998" y="7864801"/>
            <a:ext cx="3333519" cy="10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③ Microservicio → MySQL → Respuesta</a:t>
            </a:r>
          </a:p>
          <a:p>
            <a:pPr algn="l" marL="0" indent="0" lvl="0">
              <a:lnSpc>
                <a:spcPts val="1699"/>
              </a:lnSpc>
            </a:pPr>
            <a:r>
              <a:rPr lang="en-US" b="true" sz="175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El servicio procesa la lógica, accede a su BD y retorna la respuesta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0957406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8" y="0"/>
                </a:lnTo>
                <a:lnTo>
                  <a:pt x="12603788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66825"/>
            <a:ext cx="2819389" cy="138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2"/>
              </a:lnSpc>
            </a:pPr>
            <a:r>
              <a:rPr lang="en-US" b="true" sz="10672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78501" y="7105956"/>
            <a:ext cx="11580799" cy="1884318"/>
            <a:chOff x="0" y="0"/>
            <a:chExt cx="3050087" cy="496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50087" cy="496281"/>
            </a:xfrm>
            <a:custGeom>
              <a:avLst/>
              <a:gdLst/>
              <a:ahLst/>
              <a:cxnLst/>
              <a:rect r="r" b="b" t="t" l="l"/>
              <a:pathLst>
                <a:path h="496281" w="3050087">
                  <a:moveTo>
                    <a:pt x="24735" y="0"/>
                  </a:moveTo>
                  <a:lnTo>
                    <a:pt x="3025352" y="0"/>
                  </a:lnTo>
                  <a:cubicBezTo>
                    <a:pt x="3039013" y="0"/>
                    <a:pt x="3050087" y="11074"/>
                    <a:pt x="3050087" y="24735"/>
                  </a:cubicBezTo>
                  <a:lnTo>
                    <a:pt x="3050087" y="471546"/>
                  </a:lnTo>
                  <a:cubicBezTo>
                    <a:pt x="3050087" y="485207"/>
                    <a:pt x="3039013" y="496281"/>
                    <a:pt x="3025352" y="496281"/>
                  </a:cubicBezTo>
                  <a:lnTo>
                    <a:pt x="24735" y="496281"/>
                  </a:lnTo>
                  <a:cubicBezTo>
                    <a:pt x="11074" y="496281"/>
                    <a:pt x="0" y="485207"/>
                    <a:pt x="0" y="471546"/>
                  </a:cubicBezTo>
                  <a:lnTo>
                    <a:pt x="0" y="24735"/>
                  </a:lnTo>
                  <a:cubicBezTo>
                    <a:pt x="0" y="11074"/>
                    <a:pt x="11074" y="0"/>
                    <a:pt x="247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50087" cy="53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78501" y="4201341"/>
            <a:ext cx="11580799" cy="1884318"/>
            <a:chOff x="0" y="0"/>
            <a:chExt cx="3050087" cy="496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0087" cy="496281"/>
            </a:xfrm>
            <a:custGeom>
              <a:avLst/>
              <a:gdLst/>
              <a:ahLst/>
              <a:cxnLst/>
              <a:rect r="r" b="b" t="t" l="l"/>
              <a:pathLst>
                <a:path h="496281" w="3050087">
                  <a:moveTo>
                    <a:pt x="24735" y="0"/>
                  </a:moveTo>
                  <a:lnTo>
                    <a:pt x="3025352" y="0"/>
                  </a:lnTo>
                  <a:cubicBezTo>
                    <a:pt x="3039013" y="0"/>
                    <a:pt x="3050087" y="11074"/>
                    <a:pt x="3050087" y="24735"/>
                  </a:cubicBezTo>
                  <a:lnTo>
                    <a:pt x="3050087" y="471546"/>
                  </a:lnTo>
                  <a:cubicBezTo>
                    <a:pt x="3050087" y="485207"/>
                    <a:pt x="3039013" y="496281"/>
                    <a:pt x="3025352" y="496281"/>
                  </a:cubicBezTo>
                  <a:lnTo>
                    <a:pt x="24735" y="496281"/>
                  </a:lnTo>
                  <a:cubicBezTo>
                    <a:pt x="11074" y="496281"/>
                    <a:pt x="0" y="485207"/>
                    <a:pt x="0" y="471546"/>
                  </a:cubicBezTo>
                  <a:lnTo>
                    <a:pt x="0" y="24735"/>
                  </a:lnTo>
                  <a:cubicBezTo>
                    <a:pt x="0" y="11074"/>
                    <a:pt x="11074" y="0"/>
                    <a:pt x="247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50087" cy="53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72854" y="5143500"/>
            <a:ext cx="3086828" cy="308682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956731"/>
            <a:ext cx="6131718" cy="2420370"/>
            <a:chOff x="0" y="0"/>
            <a:chExt cx="949964" cy="3749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964" cy="374979"/>
            </a:xfrm>
            <a:custGeom>
              <a:avLst/>
              <a:gdLst/>
              <a:ahLst/>
              <a:cxnLst/>
              <a:rect r="r" b="b" t="t" l="l"/>
              <a:pathLst>
                <a:path h="374979" w="949964">
                  <a:moveTo>
                    <a:pt x="64393" y="0"/>
                  </a:moveTo>
                  <a:lnTo>
                    <a:pt x="885571" y="0"/>
                  </a:lnTo>
                  <a:cubicBezTo>
                    <a:pt x="921134" y="0"/>
                    <a:pt x="949964" y="28830"/>
                    <a:pt x="949964" y="64393"/>
                  </a:cubicBezTo>
                  <a:lnTo>
                    <a:pt x="949964" y="310586"/>
                  </a:lnTo>
                  <a:cubicBezTo>
                    <a:pt x="949964" y="346149"/>
                    <a:pt x="921134" y="374979"/>
                    <a:pt x="885571" y="374979"/>
                  </a:cubicBezTo>
                  <a:lnTo>
                    <a:pt x="64393" y="374979"/>
                  </a:lnTo>
                  <a:cubicBezTo>
                    <a:pt x="28830" y="374979"/>
                    <a:pt x="0" y="346149"/>
                    <a:pt x="0" y="310586"/>
                  </a:cubicBezTo>
                  <a:lnTo>
                    <a:pt x="0" y="64393"/>
                  </a:lnTo>
                  <a:cubicBezTo>
                    <a:pt x="0" y="28830"/>
                    <a:pt x="28830" y="0"/>
                    <a:pt x="6439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67" r="0" b="-66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6837930"/>
            <a:ext cx="6131718" cy="2420370"/>
            <a:chOff x="0" y="0"/>
            <a:chExt cx="949964" cy="3749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964" cy="374979"/>
            </a:xfrm>
            <a:custGeom>
              <a:avLst/>
              <a:gdLst/>
              <a:ahLst/>
              <a:cxnLst/>
              <a:rect r="r" b="b" t="t" l="l"/>
              <a:pathLst>
                <a:path h="374979" w="949964">
                  <a:moveTo>
                    <a:pt x="64393" y="0"/>
                  </a:moveTo>
                  <a:lnTo>
                    <a:pt x="885571" y="0"/>
                  </a:lnTo>
                  <a:cubicBezTo>
                    <a:pt x="921134" y="0"/>
                    <a:pt x="949964" y="28830"/>
                    <a:pt x="949964" y="64393"/>
                  </a:cubicBezTo>
                  <a:lnTo>
                    <a:pt x="949964" y="310586"/>
                  </a:lnTo>
                  <a:cubicBezTo>
                    <a:pt x="949964" y="346149"/>
                    <a:pt x="921134" y="374979"/>
                    <a:pt x="885571" y="374979"/>
                  </a:cubicBezTo>
                  <a:lnTo>
                    <a:pt x="64393" y="374979"/>
                  </a:lnTo>
                  <a:cubicBezTo>
                    <a:pt x="28830" y="374979"/>
                    <a:pt x="0" y="346149"/>
                    <a:pt x="0" y="310586"/>
                  </a:cubicBezTo>
                  <a:lnTo>
                    <a:pt x="0" y="64393"/>
                  </a:lnTo>
                  <a:cubicBezTo>
                    <a:pt x="0" y="28830"/>
                    <a:pt x="28830" y="0"/>
                    <a:pt x="6439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67" r="0" b="-66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99137" y="7105956"/>
            <a:ext cx="3381551" cy="1884318"/>
            <a:chOff x="0" y="0"/>
            <a:chExt cx="890614" cy="4962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0614" cy="496281"/>
            </a:xfrm>
            <a:custGeom>
              <a:avLst/>
              <a:gdLst/>
              <a:ahLst/>
              <a:cxnLst/>
              <a:rect r="r" b="b" t="t" l="l"/>
              <a:pathLst>
                <a:path h="496281" w="890614">
                  <a:moveTo>
                    <a:pt x="84710" y="0"/>
                  </a:moveTo>
                  <a:lnTo>
                    <a:pt x="805904" y="0"/>
                  </a:lnTo>
                  <a:cubicBezTo>
                    <a:pt x="852688" y="0"/>
                    <a:pt x="890614" y="37926"/>
                    <a:pt x="890614" y="84710"/>
                  </a:cubicBezTo>
                  <a:lnTo>
                    <a:pt x="890614" y="411571"/>
                  </a:lnTo>
                  <a:cubicBezTo>
                    <a:pt x="890614" y="458355"/>
                    <a:pt x="852688" y="496281"/>
                    <a:pt x="805904" y="496281"/>
                  </a:cubicBezTo>
                  <a:lnTo>
                    <a:pt x="84710" y="496281"/>
                  </a:lnTo>
                  <a:cubicBezTo>
                    <a:pt x="62243" y="496281"/>
                    <a:pt x="40697" y="487356"/>
                    <a:pt x="24811" y="471470"/>
                  </a:cubicBezTo>
                  <a:cubicBezTo>
                    <a:pt x="8925" y="455584"/>
                    <a:pt x="0" y="434038"/>
                    <a:pt x="0" y="411571"/>
                  </a:cubicBezTo>
                  <a:lnTo>
                    <a:pt x="0" y="84710"/>
                  </a:lnTo>
                  <a:cubicBezTo>
                    <a:pt x="0" y="37926"/>
                    <a:pt x="37926" y="0"/>
                    <a:pt x="8471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90614" cy="53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9137" y="4201341"/>
            <a:ext cx="3381551" cy="1884318"/>
            <a:chOff x="0" y="0"/>
            <a:chExt cx="890614" cy="4962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0614" cy="496281"/>
            </a:xfrm>
            <a:custGeom>
              <a:avLst/>
              <a:gdLst/>
              <a:ahLst/>
              <a:cxnLst/>
              <a:rect r="r" b="b" t="t" l="l"/>
              <a:pathLst>
                <a:path h="496281" w="890614">
                  <a:moveTo>
                    <a:pt x="84710" y="0"/>
                  </a:moveTo>
                  <a:lnTo>
                    <a:pt x="805904" y="0"/>
                  </a:lnTo>
                  <a:cubicBezTo>
                    <a:pt x="852688" y="0"/>
                    <a:pt x="890614" y="37926"/>
                    <a:pt x="890614" y="84710"/>
                  </a:cubicBezTo>
                  <a:lnTo>
                    <a:pt x="890614" y="411571"/>
                  </a:lnTo>
                  <a:cubicBezTo>
                    <a:pt x="890614" y="458355"/>
                    <a:pt x="852688" y="496281"/>
                    <a:pt x="805904" y="496281"/>
                  </a:cubicBezTo>
                  <a:lnTo>
                    <a:pt x="84710" y="496281"/>
                  </a:lnTo>
                  <a:cubicBezTo>
                    <a:pt x="62243" y="496281"/>
                    <a:pt x="40697" y="487356"/>
                    <a:pt x="24811" y="471470"/>
                  </a:cubicBezTo>
                  <a:cubicBezTo>
                    <a:pt x="8925" y="455584"/>
                    <a:pt x="0" y="434038"/>
                    <a:pt x="0" y="411571"/>
                  </a:cubicBezTo>
                  <a:lnTo>
                    <a:pt x="0" y="84710"/>
                  </a:lnTo>
                  <a:cubicBezTo>
                    <a:pt x="0" y="37926"/>
                    <a:pt x="37926" y="0"/>
                    <a:pt x="8471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90614" cy="53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497893" y="4630934"/>
            <a:ext cx="9343147" cy="9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Los DTOs permiten desacoplar la capa de presentación de la lógica de negocio. Solo se exponen los campos necesarios: username, email, gameId, etc. Evitan la sobreexposición de entidades JPA y mejoran la seguridad y mantenibilidad de la API REST.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43081" y="4606290"/>
            <a:ext cx="209366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es un DTO?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Transfer Object: objeto que transporta datos entre capas sin exponer la entidad interna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23481" y="7510905"/>
            <a:ext cx="213286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Flujo de datos con DTO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Cliente envía datos → DTO recibe y valida → Service procesa → Respuesta encapsulada en DTO de salida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97893" y="7551860"/>
            <a:ext cx="9343147" cy="9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Ejemplo: UserRequestDTO contiene {username, email, password}. UserResponseDTO retorna {id, username, avatar}. La entidad User nunca se expone directamente al cliente, protegiendo datos sensibles y facilitando el versionado de la API.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73324" y="-900287"/>
            <a:ext cx="1800575" cy="180057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210268" y="1000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24286" y="5813047"/>
            <a:ext cx="3983209" cy="398320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53474" y="5086587"/>
            <a:ext cx="6188537" cy="5941375"/>
            <a:chOff x="0" y="0"/>
            <a:chExt cx="661416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141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614160">
                  <a:moveTo>
                    <a:pt x="6614160" y="0"/>
                  </a:moveTo>
                  <a:cubicBezTo>
                    <a:pt x="6614160" y="0"/>
                    <a:pt x="5133340" y="0"/>
                    <a:pt x="3307080" y="0"/>
                  </a:cubicBezTo>
                  <a:cubicBezTo>
                    <a:pt x="1480820" y="0"/>
                    <a:pt x="0" y="0"/>
                    <a:pt x="0" y="0"/>
                  </a:cubicBezTo>
                  <a:cubicBezTo>
                    <a:pt x="0" y="1365250"/>
                    <a:pt x="828040" y="2538730"/>
                    <a:pt x="2009140" y="3042920"/>
                  </a:cubicBezTo>
                  <a:cubicBezTo>
                    <a:pt x="828040" y="3042920"/>
                    <a:pt x="0" y="3042920"/>
                    <a:pt x="0" y="3042920"/>
                  </a:cubicBezTo>
                  <a:cubicBezTo>
                    <a:pt x="0" y="4869180"/>
                    <a:pt x="1480820" y="6350000"/>
                    <a:pt x="3307080" y="6350000"/>
                  </a:cubicBezTo>
                  <a:cubicBezTo>
                    <a:pt x="5133340" y="6350000"/>
                    <a:pt x="6614160" y="4869180"/>
                    <a:pt x="6614160" y="3042920"/>
                  </a:cubicBezTo>
                  <a:cubicBezTo>
                    <a:pt x="6614160" y="3042920"/>
                    <a:pt x="5786120" y="3042920"/>
                    <a:pt x="4605020" y="3042920"/>
                  </a:cubicBezTo>
                  <a:cubicBezTo>
                    <a:pt x="5786120" y="2538730"/>
                    <a:pt x="6614160" y="1365250"/>
                    <a:pt x="6614160" y="0"/>
                  </a:cubicBezTo>
                  <a:close/>
                </a:path>
              </a:pathLst>
            </a:custGeom>
            <a:blipFill>
              <a:blip r:embed="rId4"/>
              <a:stretch>
                <a:fillRect l="-68" t="0" r="-6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209675"/>
            <a:ext cx="8415636" cy="297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4"/>
              </a:lnSpc>
            </a:pPr>
            <a:r>
              <a:rPr lang="en-US" b="true" sz="795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YAML</a:t>
            </a:r>
          </a:p>
          <a:p>
            <a:pPr algn="l" marL="0" indent="0" lvl="0">
              <a:lnSpc>
                <a:spcPts val="7714"/>
              </a:lnSpc>
            </a:pPr>
            <a:r>
              <a:rPr lang="en-US" b="true" sz="795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Configuración application.yml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133518"/>
            <a:ext cx="4824598" cy="3749365"/>
            <a:chOff x="0" y="0"/>
            <a:chExt cx="1270676" cy="9874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676" cy="987487"/>
            </a:xfrm>
            <a:custGeom>
              <a:avLst/>
              <a:gdLst/>
              <a:ahLst/>
              <a:cxnLst/>
              <a:rect r="r" b="b" t="t" l="l"/>
              <a:pathLst>
                <a:path h="987487" w="1270676">
                  <a:moveTo>
                    <a:pt x="81839" y="0"/>
                  </a:moveTo>
                  <a:lnTo>
                    <a:pt x="1188838" y="0"/>
                  </a:lnTo>
                  <a:cubicBezTo>
                    <a:pt x="1210542" y="0"/>
                    <a:pt x="1231358" y="8622"/>
                    <a:pt x="1246706" y="23970"/>
                  </a:cubicBezTo>
                  <a:cubicBezTo>
                    <a:pt x="1262054" y="39318"/>
                    <a:pt x="1270676" y="60134"/>
                    <a:pt x="1270676" y="81839"/>
                  </a:cubicBezTo>
                  <a:lnTo>
                    <a:pt x="1270676" y="905649"/>
                  </a:lnTo>
                  <a:cubicBezTo>
                    <a:pt x="1270676" y="927353"/>
                    <a:pt x="1262054" y="948169"/>
                    <a:pt x="1246706" y="963517"/>
                  </a:cubicBezTo>
                  <a:cubicBezTo>
                    <a:pt x="1231358" y="978865"/>
                    <a:pt x="1210542" y="987487"/>
                    <a:pt x="1188838" y="987487"/>
                  </a:cubicBezTo>
                  <a:lnTo>
                    <a:pt x="81839" y="987487"/>
                  </a:lnTo>
                  <a:cubicBezTo>
                    <a:pt x="60134" y="987487"/>
                    <a:pt x="39318" y="978865"/>
                    <a:pt x="23970" y="963517"/>
                  </a:cubicBezTo>
                  <a:cubicBezTo>
                    <a:pt x="8622" y="948169"/>
                    <a:pt x="0" y="927353"/>
                    <a:pt x="0" y="905649"/>
                  </a:cubicBezTo>
                  <a:lnTo>
                    <a:pt x="0" y="81839"/>
                  </a:lnTo>
                  <a:cubicBezTo>
                    <a:pt x="0" y="60134"/>
                    <a:pt x="8622" y="39318"/>
                    <a:pt x="23970" y="23970"/>
                  </a:cubicBezTo>
                  <a:cubicBezTo>
                    <a:pt x="39318" y="8622"/>
                    <a:pt x="60134" y="0"/>
                    <a:pt x="818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270676" cy="939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37751" y="5176106"/>
            <a:ext cx="4502082" cy="186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Cada microservicio cuenta con su propio archivo application.yml que define su identidad, conexión a base de datos, registro en Eureka y configuración de puertos. Esta separación permite configuración independiente por servicio.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3690" y="5373125"/>
            <a:ext cx="2994532" cy="314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port: 8081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spring: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name: user-service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datasource: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url: jdbc:mysql://localhost/users_db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username: root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jpa: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hibernate: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ddl-auto: update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eureka: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client: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service-url: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defaultZone: http://localhost:8761/eureka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37751" y="7281131"/>
            <a:ext cx="4502082" cy="426399"/>
            <a:chOff x="0" y="0"/>
            <a:chExt cx="930094" cy="880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0094" cy="88091"/>
            </a:xfrm>
            <a:custGeom>
              <a:avLst/>
              <a:gdLst/>
              <a:ahLst/>
              <a:cxnLst/>
              <a:rect r="r" b="b" t="t" l="l"/>
              <a:pathLst>
                <a:path h="88091" w="930094">
                  <a:moveTo>
                    <a:pt x="44045" y="0"/>
                  </a:moveTo>
                  <a:lnTo>
                    <a:pt x="886049" y="0"/>
                  </a:lnTo>
                  <a:cubicBezTo>
                    <a:pt x="910374" y="0"/>
                    <a:pt x="930094" y="19720"/>
                    <a:pt x="930094" y="44045"/>
                  </a:cubicBezTo>
                  <a:lnTo>
                    <a:pt x="930094" y="44045"/>
                  </a:lnTo>
                  <a:cubicBezTo>
                    <a:pt x="930094" y="68371"/>
                    <a:pt x="910374" y="88091"/>
                    <a:pt x="886049" y="88091"/>
                  </a:cubicBezTo>
                  <a:lnTo>
                    <a:pt x="44045" y="88091"/>
                  </a:lnTo>
                  <a:cubicBezTo>
                    <a:pt x="19720" y="88091"/>
                    <a:pt x="0" y="68371"/>
                    <a:pt x="0" y="44045"/>
                  </a:cubicBezTo>
                  <a:lnTo>
                    <a:pt x="0" y="44045"/>
                  </a:lnTo>
                  <a:cubicBezTo>
                    <a:pt x="0" y="19720"/>
                    <a:pt x="19720" y="0"/>
                    <a:pt x="44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930094" cy="4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37751" y="7823701"/>
            <a:ext cx="4502082" cy="426399"/>
            <a:chOff x="0" y="0"/>
            <a:chExt cx="930094" cy="880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0094" cy="88091"/>
            </a:xfrm>
            <a:custGeom>
              <a:avLst/>
              <a:gdLst/>
              <a:ahLst/>
              <a:cxnLst/>
              <a:rect r="r" b="b" t="t" l="l"/>
              <a:pathLst>
                <a:path h="88091" w="930094">
                  <a:moveTo>
                    <a:pt x="44045" y="0"/>
                  </a:moveTo>
                  <a:lnTo>
                    <a:pt x="886049" y="0"/>
                  </a:lnTo>
                  <a:cubicBezTo>
                    <a:pt x="910374" y="0"/>
                    <a:pt x="930094" y="19720"/>
                    <a:pt x="930094" y="44045"/>
                  </a:cubicBezTo>
                  <a:lnTo>
                    <a:pt x="930094" y="44045"/>
                  </a:lnTo>
                  <a:cubicBezTo>
                    <a:pt x="930094" y="68371"/>
                    <a:pt x="910374" y="88091"/>
                    <a:pt x="886049" y="88091"/>
                  </a:cubicBezTo>
                  <a:lnTo>
                    <a:pt x="44045" y="88091"/>
                  </a:lnTo>
                  <a:cubicBezTo>
                    <a:pt x="19720" y="88091"/>
                    <a:pt x="0" y="68371"/>
                    <a:pt x="0" y="44045"/>
                  </a:cubicBezTo>
                  <a:lnTo>
                    <a:pt x="0" y="44045"/>
                  </a:lnTo>
                  <a:cubicBezTo>
                    <a:pt x="0" y="19720"/>
                    <a:pt x="19720" y="0"/>
                    <a:pt x="44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930094" cy="4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114810" y="7351612"/>
            <a:ext cx="3347965" cy="25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52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server.port — Puerto del microservicio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78603" y="7898743"/>
            <a:ext cx="4092469" cy="25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52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spring.application.name — Nombre del servicio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537751" y="8366271"/>
            <a:ext cx="4502082" cy="426399"/>
            <a:chOff x="0" y="0"/>
            <a:chExt cx="930094" cy="880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0094" cy="88091"/>
            </a:xfrm>
            <a:custGeom>
              <a:avLst/>
              <a:gdLst/>
              <a:ahLst/>
              <a:cxnLst/>
              <a:rect r="r" b="b" t="t" l="l"/>
              <a:pathLst>
                <a:path h="88091" w="930094">
                  <a:moveTo>
                    <a:pt x="44045" y="0"/>
                  </a:moveTo>
                  <a:lnTo>
                    <a:pt x="886049" y="0"/>
                  </a:lnTo>
                  <a:cubicBezTo>
                    <a:pt x="910374" y="0"/>
                    <a:pt x="930094" y="19720"/>
                    <a:pt x="930094" y="44045"/>
                  </a:cubicBezTo>
                  <a:lnTo>
                    <a:pt x="930094" y="44045"/>
                  </a:lnTo>
                  <a:cubicBezTo>
                    <a:pt x="930094" y="68371"/>
                    <a:pt x="910374" y="88091"/>
                    <a:pt x="886049" y="88091"/>
                  </a:cubicBezTo>
                  <a:lnTo>
                    <a:pt x="44045" y="88091"/>
                  </a:lnTo>
                  <a:cubicBezTo>
                    <a:pt x="19720" y="88091"/>
                    <a:pt x="0" y="68371"/>
                    <a:pt x="0" y="44045"/>
                  </a:cubicBezTo>
                  <a:lnTo>
                    <a:pt x="0" y="44045"/>
                  </a:lnTo>
                  <a:cubicBezTo>
                    <a:pt x="0" y="19720"/>
                    <a:pt x="19720" y="0"/>
                    <a:pt x="440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47625"/>
              <a:ext cx="930094" cy="4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742557" y="8431075"/>
            <a:ext cx="4092469" cy="25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1"/>
              </a:lnSpc>
            </a:pPr>
            <a:r>
              <a:rPr lang="en-US" sz="152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eureka.client.service-url — Registro en Eureka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717215" y="-2052778"/>
            <a:ext cx="3365685" cy="33656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64720" y="2197182"/>
            <a:ext cx="3086828" cy="30868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87713" y="8009408"/>
            <a:ext cx="1800575" cy="18005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209675"/>
            <a:ext cx="7291645" cy="293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38"/>
              </a:lnSpc>
            </a:pPr>
            <a:r>
              <a:rPr lang="en-US" b="true" sz="7875" spc="-39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Swagger</a:t>
            </a:r>
          </a:p>
          <a:p>
            <a:pPr algn="l" marL="0" indent="0" lvl="0">
              <a:lnSpc>
                <a:spcPts val="7638"/>
              </a:lnSpc>
            </a:pPr>
            <a:r>
              <a:rPr lang="en-US" b="true" sz="7875" spc="-39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Documentación de API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82479" y="2561467"/>
            <a:ext cx="6468234" cy="64682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56754" y="4686414"/>
            <a:ext cx="5171407" cy="37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4"/>
              </a:lnSpc>
            </a:pPr>
            <a:r>
              <a:rPr lang="en-US" sz="30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Swagger / OpenAPI genera automáticamente la documentación interactiva de cada microservicio, permitiendo explorar y probar endpoints REST directamente desde el navegador.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2337" y="6755641"/>
            <a:ext cx="789575" cy="679136"/>
          </a:xfrm>
          <a:custGeom>
            <a:avLst/>
            <a:gdLst/>
            <a:ahLst/>
            <a:cxnLst/>
            <a:rect r="r" b="b" t="t" l="l"/>
            <a:pathLst>
              <a:path h="679136" w="789575">
                <a:moveTo>
                  <a:pt x="0" y="0"/>
                </a:moveTo>
                <a:lnTo>
                  <a:pt x="789575" y="0"/>
                </a:lnTo>
                <a:lnTo>
                  <a:pt x="789575" y="679136"/>
                </a:lnTo>
                <a:lnTo>
                  <a:pt x="0" y="679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12007" y="4984331"/>
            <a:ext cx="638155" cy="742580"/>
          </a:xfrm>
          <a:custGeom>
            <a:avLst/>
            <a:gdLst/>
            <a:ahLst/>
            <a:cxnLst/>
            <a:rect r="r" b="b" t="t" l="l"/>
            <a:pathLst>
              <a:path h="742580" w="638155">
                <a:moveTo>
                  <a:pt x="0" y="0"/>
                </a:moveTo>
                <a:lnTo>
                  <a:pt x="638154" y="0"/>
                </a:lnTo>
                <a:lnTo>
                  <a:pt x="638154" y="742580"/>
                </a:lnTo>
                <a:lnTo>
                  <a:pt x="0" y="742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58411" y="4952243"/>
            <a:ext cx="4070673" cy="113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5"/>
              </a:lnSpc>
            </a:pPr>
            <a:r>
              <a:rPr lang="en-US" sz="165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Endpoints documentados automáticamente: GET, POST, PUT, DELETE con parámetros, cuerpos de solicitud y respuestas detalladas por microservicio.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89871" y="6725340"/>
            <a:ext cx="4070673" cy="113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5"/>
              </a:lnSpc>
            </a:pPr>
            <a:r>
              <a:rPr lang="en-US" sz="165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Integración con Spring Boot: anotaciones @Operation y @ApiResponse generan la interfaz web en /swagger-ui.html sin configuración manual.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20020" y="-825707"/>
            <a:ext cx="3708814" cy="370881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266825"/>
            <a:ext cx="5857693" cy="2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2"/>
              </a:lnSpc>
            </a:pPr>
            <a:r>
              <a:rPr lang="en-US" b="true" sz="10672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Pruebas</a:t>
            </a:r>
          </a:p>
          <a:p>
            <a:pPr algn="l" marL="0" indent="0" lvl="0">
              <a:lnSpc>
                <a:spcPts val="10352"/>
              </a:lnSpc>
            </a:pPr>
            <a:r>
              <a:rPr lang="en-US" b="true" sz="10672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Unitarias</a:t>
            </a:r>
          </a:p>
        </p:txBody>
      </p:sp>
      <p:sp>
        <p:nvSpPr>
          <p:cNvPr name="AutoShape 8" id="8"/>
          <p:cNvSpPr/>
          <p:nvPr/>
        </p:nvSpPr>
        <p:spPr>
          <a:xfrm>
            <a:off x="1432963" y="4716652"/>
            <a:ext cx="0" cy="1101262"/>
          </a:xfrm>
          <a:prstGeom prst="line">
            <a:avLst/>
          </a:prstGeom>
          <a:ln cap="flat" w="47625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231260" y="4716652"/>
            <a:ext cx="0" cy="1101262"/>
          </a:xfrm>
          <a:prstGeom prst="line">
            <a:avLst/>
          </a:prstGeom>
          <a:ln cap="flat" w="47625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876855" y="4783327"/>
            <a:ext cx="1384158" cy="4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7"/>
              </a:lnSpc>
            </a:pPr>
            <a:r>
              <a:rPr lang="en-US" b="true" sz="309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JUnit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75151" y="4783327"/>
            <a:ext cx="1497984" cy="4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7"/>
              </a:lnSpc>
            </a:pPr>
            <a:r>
              <a:rPr lang="en-US" b="true" sz="309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Mockito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6855" y="5502792"/>
            <a:ext cx="4823911" cy="189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5"/>
              </a:lnSpc>
            </a:pPr>
            <a:r>
              <a:rPr lang="en-US" sz="185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Framework de pruebas unitarias para Java. Permite definir tests con anotaciones @Test, organizar con @BeforeEach y validar resultados con assertions como assertEquals() y assertNotNull(). Sin necesidad de base de datos real.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5151" y="5502792"/>
            <a:ext cx="4823911" cy="1581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5"/>
              </a:lnSpc>
            </a:pPr>
            <a:r>
              <a:rPr lang="en-US" sz="185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Framework de simulación (mocking) para Java. Permite crear repositorios falsos (mocks) con @Mock y @InjectMocks, simulando respuestas sin acceder a MySQL. Ideal para aislar la lógica de negocio en UserService.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8652259"/>
            <a:ext cx="8295665" cy="59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</a:pPr>
            <a:r>
              <a:rPr lang="en-US" sz="175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Flujo de prueba: UserService → Repository Mock (Mockito) → Resultado esperado (JUnit 5). Las pruebas validan la lógica sin depender de infraestructura real.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001916" y="1358341"/>
            <a:ext cx="5480154" cy="548015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32713" y="8496300"/>
            <a:ext cx="2521393" cy="25213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66825"/>
            <a:ext cx="8403902" cy="270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9"/>
              </a:lnSpc>
            </a:pPr>
            <a:r>
              <a:rPr lang="en-US" b="true" sz="10679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Cobertura de Pruebas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76630" y="5269866"/>
            <a:ext cx="970007" cy="1003347"/>
            <a:chOff x="0" y="0"/>
            <a:chExt cx="263323" cy="272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9380" y="5269866"/>
            <a:ext cx="970007" cy="1003347"/>
            <a:chOff x="0" y="0"/>
            <a:chExt cx="263323" cy="2723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2129" y="5271533"/>
            <a:ext cx="970007" cy="1003347"/>
            <a:chOff x="0" y="0"/>
            <a:chExt cx="263323" cy="2723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3323" cy="272373"/>
            </a:xfrm>
            <a:custGeom>
              <a:avLst/>
              <a:gdLst/>
              <a:ahLst/>
              <a:cxnLst/>
              <a:rect r="r" b="b" t="t" l="l"/>
              <a:pathLst>
                <a:path h="272373" w="263323">
                  <a:moveTo>
                    <a:pt x="131661" y="0"/>
                  </a:moveTo>
                  <a:lnTo>
                    <a:pt x="131661" y="0"/>
                  </a:lnTo>
                  <a:cubicBezTo>
                    <a:pt x="204376" y="0"/>
                    <a:pt x="263323" y="58947"/>
                    <a:pt x="263323" y="131661"/>
                  </a:cubicBezTo>
                  <a:lnTo>
                    <a:pt x="263323" y="140712"/>
                  </a:lnTo>
                  <a:cubicBezTo>
                    <a:pt x="263323" y="213426"/>
                    <a:pt x="204376" y="272373"/>
                    <a:pt x="131661" y="272373"/>
                  </a:cubicBezTo>
                  <a:lnTo>
                    <a:pt x="131661" y="272373"/>
                  </a:lnTo>
                  <a:cubicBezTo>
                    <a:pt x="58947" y="272373"/>
                    <a:pt x="0" y="213426"/>
                    <a:pt x="0" y="140712"/>
                  </a:cubicBezTo>
                  <a:lnTo>
                    <a:pt x="0" y="131661"/>
                  </a:lnTo>
                  <a:cubicBezTo>
                    <a:pt x="0" y="58947"/>
                    <a:pt x="58947" y="0"/>
                    <a:pt x="1316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3323" cy="310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12463" y="5419232"/>
            <a:ext cx="811887" cy="678059"/>
          </a:xfrm>
          <a:custGeom>
            <a:avLst/>
            <a:gdLst/>
            <a:ahLst/>
            <a:cxnLst/>
            <a:rect r="r" b="b" t="t" l="l"/>
            <a:pathLst>
              <a:path h="678059" w="811887">
                <a:moveTo>
                  <a:pt x="0" y="0"/>
                </a:moveTo>
                <a:lnTo>
                  <a:pt x="811887" y="0"/>
                </a:lnTo>
                <a:lnTo>
                  <a:pt x="811887" y="678059"/>
                </a:lnTo>
                <a:lnTo>
                  <a:pt x="0" y="678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42487" y="5470070"/>
            <a:ext cx="604330" cy="603341"/>
          </a:xfrm>
          <a:custGeom>
            <a:avLst/>
            <a:gdLst/>
            <a:ahLst/>
            <a:cxnLst/>
            <a:rect r="r" b="b" t="t" l="l"/>
            <a:pathLst>
              <a:path h="603341" w="604330">
                <a:moveTo>
                  <a:pt x="0" y="0"/>
                </a:moveTo>
                <a:lnTo>
                  <a:pt x="604330" y="0"/>
                </a:lnTo>
                <a:lnTo>
                  <a:pt x="604330" y="603341"/>
                </a:lnTo>
                <a:lnTo>
                  <a:pt x="0" y="60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343994" y="5490438"/>
            <a:ext cx="566955" cy="565538"/>
          </a:xfrm>
          <a:custGeom>
            <a:avLst/>
            <a:gdLst/>
            <a:ahLst/>
            <a:cxnLst/>
            <a:rect r="r" b="b" t="t" l="l"/>
            <a:pathLst>
              <a:path h="565538" w="566955">
                <a:moveTo>
                  <a:pt x="0" y="0"/>
                </a:moveTo>
                <a:lnTo>
                  <a:pt x="566955" y="0"/>
                </a:lnTo>
                <a:lnTo>
                  <a:pt x="566955" y="565538"/>
                </a:lnTo>
                <a:lnTo>
                  <a:pt x="0" y="565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0581" y="6457722"/>
            <a:ext cx="4180114" cy="196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Given / When / Then</a:t>
            </a:r>
          </a:p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Estructura estándar de pruebas unitarias: Given (precondición), When (acción ejecutada), Then (resultado esperado). Permite escribir pruebas claras y legibles.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0759" y="6457722"/>
            <a:ext cx="4322397" cy="196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Assertions y Mocks</a:t>
            </a:r>
          </a:p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Assertions verifican que el resultado obtenido coincide con el esperado. Los Mocks simulan dependencias externas (repositorios, servicios) sin usar recursos reales.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0938" y="6457722"/>
            <a:ext cx="4322397" cy="196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Verificaciones</a:t>
            </a:r>
          </a:p>
          <a:p>
            <a:pPr algn="l" marL="0" indent="0" lvl="0">
              <a:lnSpc>
                <a:spcPts val="2681"/>
              </a:lnSpc>
            </a:pPr>
            <a:r>
              <a:rPr lang="en-US" sz="19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Mockito.verify() confirma que ciertos métodos fueron invocados durante la prueba. Garantiza que la lógica de negocio interactúa correctamente con sus dependencias.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844298" y="8424648"/>
            <a:ext cx="3086828" cy="308682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069537" y="-900287"/>
            <a:ext cx="1800575" cy="180057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27873" y="3974968"/>
            <a:ext cx="3086828" cy="30868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17086" y="-894713"/>
            <a:ext cx="3086828" cy="30868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707654" y="-1184223"/>
            <a:ext cx="6468234" cy="64682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H="true">
            <a:off x="5999811" y="7397977"/>
            <a:ext cx="11259489" cy="0"/>
          </a:xfrm>
          <a:prstGeom prst="line">
            <a:avLst/>
          </a:prstGeom>
          <a:ln cap="flat" w="1905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999811" y="7252492"/>
            <a:ext cx="290970" cy="2909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999811" y="1238250"/>
            <a:ext cx="6181251" cy="361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1"/>
              </a:lnSpc>
            </a:pPr>
            <a:r>
              <a:rPr lang="en-US" b="true" sz="9610" spc="-48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Flujo Completo de Mockito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9811" y="5624507"/>
            <a:ext cx="10064107" cy="114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7"/>
              </a:lnSpc>
            </a:pPr>
            <a:r>
              <a:rPr lang="en-US" sz="224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 flujo de pruebas con Mockito simula dependencias sin base de datos real. El test invoca el Service, Mockito intercepta el Repository y devuelve datos controlados, permitiendo verificar el comportamiento esperado de forma aislada.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9811" y="7953329"/>
            <a:ext cx="3596254" cy="94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Test → Mockito</a:t>
            </a:r>
          </a:p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 define el mock del Repository y se configura el comportamiento esperado con when()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94050" y="7252492"/>
            <a:ext cx="290970" cy="29097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25781" y="7252492"/>
            <a:ext cx="290970" cy="2909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494050" y="7953329"/>
            <a:ext cx="2533747" cy="11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Service → Mock Repository</a:t>
            </a:r>
          </a:p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El Service ejecuta lógica de negocio usando el repositorio simulado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25781" y="7953329"/>
            <a:ext cx="3333519" cy="94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Resultado esperado</a:t>
            </a:r>
          </a:p>
          <a:p>
            <a:pPr algn="l" marL="0" indent="0" lvl="0">
              <a:lnSpc>
                <a:spcPts val="1814"/>
              </a:lnSpc>
            </a:pPr>
            <a:r>
              <a:rPr lang="en-US" b="true" sz="187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Assertions verifican el resultado y verify() confirma interacciones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68783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69653" y="0"/>
            <a:ext cx="864494" cy="10287000"/>
            <a:chOff x="0" y="0"/>
            <a:chExt cx="227686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7686">
                  <a:moveTo>
                    <a:pt x="0" y="0"/>
                  </a:moveTo>
                  <a:lnTo>
                    <a:pt x="227686" y="0"/>
                  </a:lnTo>
                  <a:lnTo>
                    <a:pt x="22768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45000"/>
                  </a:srgbClr>
                </a:gs>
                <a:gs pos="100000">
                  <a:srgbClr val="C23F00">
                    <a:alpha val="45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700000">
            <a:off x="11020151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9" y="0"/>
                </a:lnTo>
                <a:lnTo>
                  <a:pt x="12603789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680334" y="3326642"/>
            <a:ext cx="6816826" cy="6816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92664" y="5716877"/>
            <a:ext cx="6128734" cy="2502903"/>
            <a:chOff x="0" y="0"/>
            <a:chExt cx="1614152" cy="6592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14152" cy="659201"/>
            </a:xfrm>
            <a:custGeom>
              <a:avLst/>
              <a:gdLst/>
              <a:ahLst/>
              <a:cxnLst/>
              <a:rect r="r" b="b" t="t" l="l"/>
              <a:pathLst>
                <a:path h="659201" w="1614152">
                  <a:moveTo>
                    <a:pt x="64424" y="0"/>
                  </a:moveTo>
                  <a:lnTo>
                    <a:pt x="1549728" y="0"/>
                  </a:lnTo>
                  <a:cubicBezTo>
                    <a:pt x="1566814" y="0"/>
                    <a:pt x="1583201" y="6788"/>
                    <a:pt x="1595283" y="18869"/>
                  </a:cubicBezTo>
                  <a:cubicBezTo>
                    <a:pt x="1607365" y="30951"/>
                    <a:pt x="1614152" y="47338"/>
                    <a:pt x="1614152" y="64424"/>
                  </a:cubicBezTo>
                  <a:lnTo>
                    <a:pt x="1614152" y="594777"/>
                  </a:lnTo>
                  <a:cubicBezTo>
                    <a:pt x="1614152" y="611863"/>
                    <a:pt x="1607365" y="628250"/>
                    <a:pt x="1595283" y="640331"/>
                  </a:cubicBezTo>
                  <a:cubicBezTo>
                    <a:pt x="1583201" y="652413"/>
                    <a:pt x="1566814" y="659201"/>
                    <a:pt x="1549728" y="659201"/>
                  </a:cubicBezTo>
                  <a:lnTo>
                    <a:pt x="64424" y="659201"/>
                  </a:lnTo>
                  <a:cubicBezTo>
                    <a:pt x="47338" y="659201"/>
                    <a:pt x="30951" y="652413"/>
                    <a:pt x="18869" y="640331"/>
                  </a:cubicBezTo>
                  <a:cubicBezTo>
                    <a:pt x="6788" y="628250"/>
                    <a:pt x="0" y="611863"/>
                    <a:pt x="0" y="594777"/>
                  </a:cubicBezTo>
                  <a:lnTo>
                    <a:pt x="0" y="64424"/>
                  </a:lnTo>
                  <a:cubicBezTo>
                    <a:pt x="0" y="47338"/>
                    <a:pt x="6788" y="30951"/>
                    <a:pt x="18869" y="18869"/>
                  </a:cubicBezTo>
                  <a:cubicBezTo>
                    <a:pt x="30951" y="6788"/>
                    <a:pt x="47338" y="0"/>
                    <a:pt x="644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614152" cy="611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903689"/>
            <a:ext cx="5148464" cy="653360"/>
            <a:chOff x="0" y="0"/>
            <a:chExt cx="984730" cy="1249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4730" cy="124966"/>
            </a:xfrm>
            <a:custGeom>
              <a:avLst/>
              <a:gdLst/>
              <a:ahLst/>
              <a:cxnLst/>
              <a:rect r="r" b="b" t="t" l="l"/>
              <a:pathLst>
                <a:path h="124966" w="984730">
                  <a:moveTo>
                    <a:pt x="62483" y="0"/>
                  </a:moveTo>
                  <a:lnTo>
                    <a:pt x="922247" y="0"/>
                  </a:lnTo>
                  <a:cubicBezTo>
                    <a:pt x="938819" y="0"/>
                    <a:pt x="954712" y="6583"/>
                    <a:pt x="966429" y="18301"/>
                  </a:cubicBezTo>
                  <a:cubicBezTo>
                    <a:pt x="978147" y="30019"/>
                    <a:pt x="984730" y="45911"/>
                    <a:pt x="984730" y="62483"/>
                  </a:cubicBezTo>
                  <a:lnTo>
                    <a:pt x="984730" y="62483"/>
                  </a:lnTo>
                  <a:cubicBezTo>
                    <a:pt x="984730" y="79055"/>
                    <a:pt x="978147" y="94947"/>
                    <a:pt x="966429" y="106665"/>
                  </a:cubicBezTo>
                  <a:cubicBezTo>
                    <a:pt x="954712" y="118383"/>
                    <a:pt x="938819" y="124966"/>
                    <a:pt x="922247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984730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735055"/>
            <a:ext cx="5148464" cy="653360"/>
            <a:chOff x="0" y="0"/>
            <a:chExt cx="984730" cy="1249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4730" cy="124966"/>
            </a:xfrm>
            <a:custGeom>
              <a:avLst/>
              <a:gdLst/>
              <a:ahLst/>
              <a:cxnLst/>
              <a:rect r="r" b="b" t="t" l="l"/>
              <a:pathLst>
                <a:path h="124966" w="984730">
                  <a:moveTo>
                    <a:pt x="62483" y="0"/>
                  </a:moveTo>
                  <a:lnTo>
                    <a:pt x="922247" y="0"/>
                  </a:lnTo>
                  <a:cubicBezTo>
                    <a:pt x="938819" y="0"/>
                    <a:pt x="954712" y="6583"/>
                    <a:pt x="966429" y="18301"/>
                  </a:cubicBezTo>
                  <a:cubicBezTo>
                    <a:pt x="978147" y="30019"/>
                    <a:pt x="984730" y="45911"/>
                    <a:pt x="984730" y="62483"/>
                  </a:cubicBezTo>
                  <a:lnTo>
                    <a:pt x="984730" y="62483"/>
                  </a:lnTo>
                  <a:cubicBezTo>
                    <a:pt x="984730" y="79055"/>
                    <a:pt x="978147" y="94947"/>
                    <a:pt x="966429" y="106665"/>
                  </a:cubicBezTo>
                  <a:cubicBezTo>
                    <a:pt x="954712" y="118383"/>
                    <a:pt x="938819" y="124966"/>
                    <a:pt x="922247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984730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1057275"/>
            <a:ext cx="8733141" cy="317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93"/>
              </a:lnSpc>
            </a:pPr>
            <a:r>
              <a:rPr lang="en-US" b="true" sz="10672" spc="-5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Ventajas de la Arquitectura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955" y="4650543"/>
            <a:ext cx="5478064" cy="93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</a:pPr>
            <a:r>
              <a:rPr lang="en-US" sz="182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 arquitectura de microservicios de PLAY.GG ofrece beneficios clave que garantizan un sistema robusto, escalable y fácil de mantener a largo plazo.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034877"/>
            <a:ext cx="5148464" cy="33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</a:pPr>
            <a:r>
              <a:rPr lang="en-US" sz="2064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Escalabilidad e Independencia de servicios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866243"/>
            <a:ext cx="5148464" cy="33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</a:pPr>
            <a:r>
              <a:rPr lang="en-US" sz="2064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Mantenibilidad y Despliegue independiente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96428" y="5894945"/>
            <a:ext cx="5419889" cy="20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2"/>
              </a:lnSpc>
            </a:pPr>
            <a:r>
              <a:rPr lang="en-US" sz="237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Gateway centraliza el enrutamiento. Eureka permite descubrimiento dinámico. OpenFeign simplifica comunicación REST. Mockito garantiza pruebas aisladas y confiables.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7566421"/>
            <a:ext cx="5148464" cy="653360"/>
            <a:chOff x="0" y="0"/>
            <a:chExt cx="984730" cy="124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4730" cy="124966"/>
            </a:xfrm>
            <a:custGeom>
              <a:avLst/>
              <a:gdLst/>
              <a:ahLst/>
              <a:cxnLst/>
              <a:rect r="r" b="b" t="t" l="l"/>
              <a:pathLst>
                <a:path h="124966" w="984730">
                  <a:moveTo>
                    <a:pt x="62483" y="0"/>
                  </a:moveTo>
                  <a:lnTo>
                    <a:pt x="922247" y="0"/>
                  </a:lnTo>
                  <a:cubicBezTo>
                    <a:pt x="938819" y="0"/>
                    <a:pt x="954712" y="6583"/>
                    <a:pt x="966429" y="18301"/>
                  </a:cubicBezTo>
                  <a:cubicBezTo>
                    <a:pt x="978147" y="30019"/>
                    <a:pt x="984730" y="45911"/>
                    <a:pt x="984730" y="62483"/>
                  </a:cubicBezTo>
                  <a:lnTo>
                    <a:pt x="984730" y="62483"/>
                  </a:lnTo>
                  <a:cubicBezTo>
                    <a:pt x="984730" y="79055"/>
                    <a:pt x="978147" y="94947"/>
                    <a:pt x="966429" y="106665"/>
                  </a:cubicBezTo>
                  <a:cubicBezTo>
                    <a:pt x="954712" y="118383"/>
                    <a:pt x="938819" y="124966"/>
                    <a:pt x="922247" y="124966"/>
                  </a:cubicBezTo>
                  <a:lnTo>
                    <a:pt x="62483" y="124966"/>
                  </a:lnTo>
                  <a:cubicBezTo>
                    <a:pt x="45911" y="124966"/>
                    <a:pt x="30019" y="118383"/>
                    <a:pt x="18301" y="106665"/>
                  </a:cubicBezTo>
                  <a:cubicBezTo>
                    <a:pt x="6583" y="94947"/>
                    <a:pt x="0" y="79055"/>
                    <a:pt x="0" y="62483"/>
                  </a:cubicBezTo>
                  <a:lnTo>
                    <a:pt x="0" y="62483"/>
                  </a:lnTo>
                  <a:cubicBezTo>
                    <a:pt x="0" y="45911"/>
                    <a:pt x="6583" y="30019"/>
                    <a:pt x="18301" y="18301"/>
                  </a:cubicBezTo>
                  <a:cubicBezTo>
                    <a:pt x="30019" y="6583"/>
                    <a:pt x="45911" y="0"/>
                    <a:pt x="62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984730" cy="7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7697609"/>
            <a:ext cx="5148464" cy="33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</a:pPr>
            <a:r>
              <a:rPr lang="en-US" sz="2064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Reutilización y Facilidad para pruebas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9001125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2700000">
            <a:off x="-2691645" y="7532897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0957406" y="-2561777"/>
            <a:ext cx="12603789" cy="6727272"/>
          </a:xfrm>
          <a:custGeom>
            <a:avLst/>
            <a:gdLst/>
            <a:ahLst/>
            <a:cxnLst/>
            <a:rect r="r" b="b" t="t" l="l"/>
            <a:pathLst>
              <a:path h="6727272" w="12603789">
                <a:moveTo>
                  <a:pt x="0" y="0"/>
                </a:moveTo>
                <a:lnTo>
                  <a:pt x="12603788" y="0"/>
                </a:lnTo>
                <a:lnTo>
                  <a:pt x="12603788" y="6727272"/>
                </a:lnTo>
                <a:lnTo>
                  <a:pt x="0" y="67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8635" y="806580"/>
            <a:ext cx="6375539" cy="323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45"/>
              </a:lnSpc>
            </a:pPr>
            <a:r>
              <a:rPr lang="en-US" b="true" sz="8604" spc="-4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¡Gracias!</a:t>
            </a:r>
          </a:p>
          <a:p>
            <a:pPr algn="l" marL="0" indent="0" lvl="0">
              <a:lnSpc>
                <a:spcPts val="8345"/>
              </a:lnSpc>
            </a:pPr>
            <a:r>
              <a:rPr lang="en-US" b="true" sz="8604" spc="-4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Preguntas y Respuestas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8645992"/>
            <a:ext cx="1692332" cy="24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Presentado por: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047750" y="4973638"/>
            <a:ext cx="0" cy="890232"/>
          </a:xfrm>
          <a:prstGeom prst="line">
            <a:avLst/>
          </a:prstGeom>
          <a:ln cap="flat" w="38100">
            <a:gradFill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07318" y="5021263"/>
            <a:ext cx="4496515" cy="24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7"/>
              </a:lnSpc>
            </a:pPr>
            <a:r>
              <a:rPr lang="en-US" b="true" sz="1935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¿Tienes alguna pregunta sobre PLAY.GG?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7318" y="5578106"/>
            <a:ext cx="4274806" cy="147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Plataforma Gamer basada en Arquitectura de Microservicios. Ingeniería Informática — Full Stack I</a:t>
            </a:r>
          </a:p>
          <a:p>
            <a:pPr algn="l" marL="0" indent="0" lvl="0">
              <a:lnSpc>
                <a:spcPts val="3028"/>
              </a:lnSpc>
            </a:pPr>
            <a:r>
              <a:rPr lang="en-US" sz="216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Duoc UC - San Joaquin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16563" y="9030914"/>
            <a:ext cx="281669" cy="281669"/>
          </a:xfrm>
          <a:custGeom>
            <a:avLst/>
            <a:gdLst/>
            <a:ahLst/>
            <a:cxnLst/>
            <a:rect r="r" b="b" t="t" l="l"/>
            <a:pathLst>
              <a:path h="281669" w="281669">
                <a:moveTo>
                  <a:pt x="0" y="0"/>
                </a:moveTo>
                <a:lnTo>
                  <a:pt x="281668" y="0"/>
                </a:lnTo>
                <a:lnTo>
                  <a:pt x="281668" y="281668"/>
                </a:lnTo>
                <a:lnTo>
                  <a:pt x="0" y="281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86413" y="9030914"/>
            <a:ext cx="281669" cy="281669"/>
          </a:xfrm>
          <a:custGeom>
            <a:avLst/>
            <a:gdLst/>
            <a:ahLst/>
            <a:cxnLst/>
            <a:rect r="r" b="b" t="t" l="l"/>
            <a:pathLst>
              <a:path h="281669" w="281669">
                <a:moveTo>
                  <a:pt x="0" y="0"/>
                </a:moveTo>
                <a:lnTo>
                  <a:pt x="281669" y="0"/>
                </a:lnTo>
                <a:lnTo>
                  <a:pt x="281669" y="281668"/>
                </a:lnTo>
                <a:lnTo>
                  <a:pt x="0" y="281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58582" y="9034268"/>
            <a:ext cx="278315" cy="278315"/>
          </a:xfrm>
          <a:custGeom>
            <a:avLst/>
            <a:gdLst/>
            <a:ahLst/>
            <a:cxnLst/>
            <a:rect r="r" b="b" t="t" l="l"/>
            <a:pathLst>
              <a:path h="278315" w="278315">
                <a:moveTo>
                  <a:pt x="0" y="0"/>
                </a:moveTo>
                <a:lnTo>
                  <a:pt x="278314" y="0"/>
                </a:lnTo>
                <a:lnTo>
                  <a:pt x="278314" y="278314"/>
                </a:lnTo>
                <a:lnTo>
                  <a:pt x="0" y="278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003060" y="8635452"/>
            <a:ext cx="1507922" cy="2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PLAY.GG — 2026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52507" y="2867853"/>
            <a:ext cx="9616440" cy="1694142"/>
            <a:chOff x="0" y="0"/>
            <a:chExt cx="1489838" cy="262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9838" cy="262467"/>
            </a:xfrm>
            <a:custGeom>
              <a:avLst/>
              <a:gdLst/>
              <a:ahLst/>
              <a:cxnLst/>
              <a:rect r="r" b="b" t="t" l="l"/>
              <a:pathLst>
                <a:path h="262467" w="1489838">
                  <a:moveTo>
                    <a:pt x="80507" y="0"/>
                  </a:moveTo>
                  <a:lnTo>
                    <a:pt x="1409331" y="0"/>
                  </a:lnTo>
                  <a:cubicBezTo>
                    <a:pt x="1453794" y="0"/>
                    <a:pt x="1489838" y="36044"/>
                    <a:pt x="1489838" y="80507"/>
                  </a:cubicBezTo>
                  <a:lnTo>
                    <a:pt x="1489838" y="181960"/>
                  </a:lnTo>
                  <a:cubicBezTo>
                    <a:pt x="1489838" y="226423"/>
                    <a:pt x="1453794" y="262467"/>
                    <a:pt x="1409331" y="262467"/>
                  </a:cubicBezTo>
                  <a:lnTo>
                    <a:pt x="80507" y="262467"/>
                  </a:lnTo>
                  <a:cubicBezTo>
                    <a:pt x="36044" y="262467"/>
                    <a:pt x="0" y="226423"/>
                    <a:pt x="0" y="181960"/>
                  </a:cubicBezTo>
                  <a:lnTo>
                    <a:pt x="0" y="80507"/>
                  </a:lnTo>
                  <a:cubicBezTo>
                    <a:pt x="0" y="36044"/>
                    <a:pt x="36044" y="0"/>
                    <a:pt x="80507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731" r="0" b="-73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24154" y="4650968"/>
            <a:ext cx="3584818" cy="358481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50470" y="5951062"/>
            <a:ext cx="7424539" cy="5201996"/>
            <a:chOff x="0" y="0"/>
            <a:chExt cx="960957" cy="6732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0957" cy="673294"/>
            </a:xfrm>
            <a:custGeom>
              <a:avLst/>
              <a:gdLst/>
              <a:ahLst/>
              <a:cxnLst/>
              <a:rect r="r" b="b" t="t" l="l"/>
              <a:pathLst>
                <a:path h="673294" w="960957">
                  <a:moveTo>
                    <a:pt x="104275" y="0"/>
                  </a:moveTo>
                  <a:lnTo>
                    <a:pt x="856683" y="0"/>
                  </a:lnTo>
                  <a:cubicBezTo>
                    <a:pt x="914272" y="0"/>
                    <a:pt x="960957" y="46685"/>
                    <a:pt x="960957" y="104275"/>
                  </a:cubicBezTo>
                  <a:lnTo>
                    <a:pt x="960957" y="569019"/>
                  </a:lnTo>
                  <a:cubicBezTo>
                    <a:pt x="960957" y="626609"/>
                    <a:pt x="914272" y="673294"/>
                    <a:pt x="856683" y="673294"/>
                  </a:cubicBezTo>
                  <a:lnTo>
                    <a:pt x="104275" y="673294"/>
                  </a:lnTo>
                  <a:cubicBezTo>
                    <a:pt x="46685" y="673294"/>
                    <a:pt x="0" y="626609"/>
                    <a:pt x="0" y="569019"/>
                  </a:cubicBezTo>
                  <a:lnTo>
                    <a:pt x="0" y="104275"/>
                  </a:lnTo>
                  <a:cubicBezTo>
                    <a:pt x="0" y="46685"/>
                    <a:pt x="46685" y="0"/>
                    <a:pt x="104275" y="0"/>
                  </a:cubicBezTo>
                  <a:close/>
                </a:path>
              </a:pathLst>
            </a:custGeom>
            <a:blipFill>
              <a:blip r:embed="rId11"/>
              <a:stretch>
                <a:fillRect l="-46" t="0" r="-4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64405" y="8969929"/>
            <a:ext cx="1800575" cy="18005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001" y="8898864"/>
            <a:ext cx="2517027" cy="79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9"/>
              </a:lnSpc>
              <a:spcBef>
                <a:spcPct val="0"/>
              </a:spcBef>
            </a:pPr>
            <a:r>
              <a:rPr lang="en-US" b="true" sz="1528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Juan Pablo Casassa Urra</a:t>
            </a:r>
          </a:p>
          <a:p>
            <a:pPr algn="l" marL="0" indent="0" lvl="0">
              <a:lnSpc>
                <a:spcPts val="2139"/>
              </a:lnSpc>
              <a:spcBef>
                <a:spcPct val="0"/>
              </a:spcBef>
            </a:pPr>
            <a:r>
              <a:rPr lang="en-US" b="true" sz="1528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Claudio Jaime</a:t>
            </a:r>
          </a:p>
          <a:p>
            <a:pPr algn="l" marL="0" indent="0" lvl="0">
              <a:lnSpc>
                <a:spcPts val="2139"/>
              </a:lnSpc>
              <a:spcBef>
                <a:spcPct val="0"/>
              </a:spcBef>
            </a:pPr>
            <a:r>
              <a:rPr lang="en-US" b="true" sz="1528" strike="noStrike" u="none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Martin Gonzalez Varela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255456" y="9806447"/>
            <a:ext cx="961107" cy="96110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692B">
                    <a:alpha val="100000"/>
                  </a:srgbClr>
                </a:gs>
                <a:gs pos="100000">
                  <a:srgbClr val="C23F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24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49110" y="8635452"/>
            <a:ext cx="1692332" cy="24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Docente: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61361" y="8888324"/>
            <a:ext cx="2517027" cy="25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9"/>
              </a:lnSpc>
              <a:spcBef>
                <a:spcPct val="0"/>
              </a:spcBef>
            </a:pPr>
            <a:r>
              <a:rPr lang="en-US" b="true" sz="152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Carlos Martinez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08257" y="777183"/>
            <a:ext cx="869980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b="true" sz="1498">
                <a:solidFill>
                  <a:srgbClr val="E8692B"/>
                </a:solidFill>
                <a:latin typeface="Lato Bold"/>
                <a:ea typeface="Lato Bold"/>
                <a:cs typeface="Lato Bold"/>
                <a:sym typeface="Lato Bold"/>
              </a:rPr>
              <a:t>PLAY.GG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DAHOAwystyo</dc:identifier>
  <dcterms:modified xsi:type="dcterms:W3CDTF">2011-08-01T06:04:30Z</dcterms:modified>
  <cp:revision>1</cp:revision>
  <dc:title>PLAY.GG: Microservicios y Arquitectura</dc:title>
</cp:coreProperties>
</file>